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1879580" cy="467995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3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87907" y="767312"/>
            <a:ext cx="8927424" cy="1632297"/>
          </a:xfrm>
        </p:spPr>
        <p:txBody>
          <a:bodyPr anchor="b"/>
          <a:lstStyle>
            <a:lvl1pPr algn="ctr">
              <a:defRPr sz="410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7907" y="2462559"/>
            <a:ext cx="8927424" cy="1131971"/>
          </a:xfrm>
        </p:spPr>
        <p:txBody>
          <a:bodyPr/>
          <a:lstStyle>
            <a:lvl1pPr marL="0" indent="0" algn="ctr">
              <a:buNone/>
              <a:defRPr sz="1645"/>
            </a:lvl1pPr>
            <a:lvl2pPr marL="312420" indent="0" algn="ctr">
              <a:buNone/>
              <a:defRPr sz="1375"/>
            </a:lvl2pPr>
            <a:lvl3pPr marL="624840" indent="0" algn="ctr">
              <a:buNone/>
              <a:defRPr sz="1235"/>
            </a:lvl3pPr>
            <a:lvl4pPr marL="937260" indent="0" algn="ctr">
              <a:buNone/>
              <a:defRPr sz="1095"/>
            </a:lvl4pPr>
            <a:lvl5pPr marL="1249045" indent="0" algn="ctr">
              <a:buNone/>
              <a:defRPr sz="1095"/>
            </a:lvl5pPr>
            <a:lvl6pPr marL="1563370" indent="0" algn="ctr">
              <a:buNone/>
              <a:defRPr sz="1095"/>
            </a:lvl6pPr>
            <a:lvl7pPr marL="1873250" indent="0" algn="ctr">
              <a:buNone/>
              <a:defRPr sz="1095"/>
            </a:lvl7pPr>
            <a:lvl8pPr marL="2186940" indent="0" algn="ctr">
              <a:buNone/>
              <a:defRPr sz="1095"/>
            </a:lvl8pPr>
            <a:lvl9pPr marL="2498090" indent="0" algn="ctr">
              <a:buNone/>
              <a:defRPr sz="109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146" y="1168875"/>
            <a:ext cx="10266538" cy="1950293"/>
          </a:xfrm>
        </p:spPr>
        <p:txBody>
          <a:bodyPr anchor="b"/>
          <a:lstStyle>
            <a:lvl1pPr>
              <a:defRPr sz="410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2146" y="3137618"/>
            <a:ext cx="10266538" cy="1025612"/>
          </a:xfrm>
        </p:spPr>
        <p:txBody>
          <a:bodyPr/>
          <a:lstStyle>
            <a:lvl1pPr marL="0" indent="0">
              <a:buNone/>
              <a:defRPr sz="1645">
                <a:solidFill>
                  <a:schemeClr val="tx1">
                    <a:tint val="75000"/>
                  </a:schemeClr>
                </a:solidFill>
              </a:defRPr>
            </a:lvl1pPr>
            <a:lvl2pPr marL="312420" indent="0">
              <a:buNone/>
              <a:defRPr sz="1375">
                <a:solidFill>
                  <a:schemeClr val="tx1">
                    <a:tint val="75000"/>
                  </a:schemeClr>
                </a:solidFill>
              </a:defRPr>
            </a:lvl2pPr>
            <a:lvl3pPr marL="624840" indent="0">
              <a:buNone/>
              <a:defRPr sz="1235">
                <a:solidFill>
                  <a:schemeClr val="tx1">
                    <a:tint val="75000"/>
                  </a:schemeClr>
                </a:solidFill>
              </a:defRPr>
            </a:lvl3pPr>
            <a:lvl4pPr marL="93726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4pPr>
            <a:lvl5pPr marL="1249045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5pPr>
            <a:lvl6pPr marL="156337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6pPr>
            <a:lvl7pPr marL="187325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7pPr>
            <a:lvl8pPr marL="218694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8pPr>
            <a:lvl9pPr marL="249809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8347" y="1248101"/>
            <a:ext cx="5058874" cy="29748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26013" y="1248101"/>
            <a:ext cx="5058874" cy="29748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896" y="249619"/>
            <a:ext cx="10266538" cy="90623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9896" y="1149338"/>
            <a:ext cx="5035625" cy="563271"/>
          </a:xfrm>
        </p:spPr>
        <p:txBody>
          <a:bodyPr anchor="b"/>
          <a:lstStyle>
            <a:lvl1pPr marL="0" indent="0">
              <a:buNone/>
              <a:defRPr sz="1645" b="1"/>
            </a:lvl1pPr>
            <a:lvl2pPr marL="312420" indent="0">
              <a:buNone/>
              <a:defRPr sz="1375" b="1"/>
            </a:lvl2pPr>
            <a:lvl3pPr marL="624840" indent="0">
              <a:buNone/>
              <a:defRPr sz="1235" b="1"/>
            </a:lvl3pPr>
            <a:lvl4pPr marL="937260" indent="0">
              <a:buNone/>
              <a:defRPr sz="1095" b="1"/>
            </a:lvl4pPr>
            <a:lvl5pPr marL="1249045" indent="0">
              <a:buNone/>
              <a:defRPr sz="1095" b="1"/>
            </a:lvl5pPr>
            <a:lvl6pPr marL="1563370" indent="0">
              <a:buNone/>
              <a:defRPr sz="1095" b="1"/>
            </a:lvl6pPr>
            <a:lvl7pPr marL="1873250" indent="0">
              <a:buNone/>
              <a:defRPr sz="1095" b="1"/>
            </a:lvl7pPr>
            <a:lvl8pPr marL="2186940" indent="0">
              <a:buNone/>
              <a:defRPr sz="1095" b="1"/>
            </a:lvl8pPr>
            <a:lvl9pPr marL="2498090" indent="0">
              <a:buNone/>
              <a:defRPr sz="109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19896" y="1712609"/>
            <a:ext cx="5035625" cy="25189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026013" y="1149338"/>
            <a:ext cx="5060422" cy="563271"/>
          </a:xfrm>
        </p:spPr>
        <p:txBody>
          <a:bodyPr anchor="b"/>
          <a:lstStyle>
            <a:lvl1pPr marL="0" indent="0">
              <a:buNone/>
              <a:defRPr sz="1645" b="1"/>
            </a:lvl1pPr>
            <a:lvl2pPr marL="312420" indent="0">
              <a:buNone/>
              <a:defRPr sz="1375" b="1"/>
            </a:lvl2pPr>
            <a:lvl3pPr marL="624840" indent="0">
              <a:buNone/>
              <a:defRPr sz="1235" b="1"/>
            </a:lvl3pPr>
            <a:lvl4pPr marL="937260" indent="0">
              <a:buNone/>
              <a:defRPr sz="1095" b="1"/>
            </a:lvl4pPr>
            <a:lvl5pPr marL="1249045" indent="0">
              <a:buNone/>
              <a:defRPr sz="1095" b="1"/>
            </a:lvl5pPr>
            <a:lvl6pPr marL="1563370" indent="0">
              <a:buNone/>
              <a:defRPr sz="1095" b="1"/>
            </a:lvl6pPr>
            <a:lvl7pPr marL="1873250" indent="0">
              <a:buNone/>
              <a:defRPr sz="1095" b="1"/>
            </a:lvl7pPr>
            <a:lvl8pPr marL="2186940" indent="0">
              <a:buNone/>
              <a:defRPr sz="1095" b="1"/>
            </a:lvl8pPr>
            <a:lvl9pPr marL="2498090" indent="0">
              <a:buNone/>
              <a:defRPr sz="109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026013" y="1712609"/>
            <a:ext cx="5060422" cy="25189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896" y="312569"/>
            <a:ext cx="3839099" cy="1093987"/>
          </a:xfrm>
        </p:spPr>
        <p:txBody>
          <a:bodyPr anchor="b"/>
          <a:lstStyle>
            <a:lvl1pPr>
              <a:defRPr sz="219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60422" y="675060"/>
            <a:ext cx="6026013" cy="3331886"/>
          </a:xfrm>
        </p:spPr>
        <p:txBody>
          <a:bodyPr/>
          <a:lstStyle>
            <a:lvl1pPr>
              <a:defRPr sz="2190"/>
            </a:lvl1pPr>
            <a:lvl2pPr>
              <a:defRPr sz="1930"/>
            </a:lvl2pPr>
            <a:lvl3pPr>
              <a:defRPr sz="1645"/>
            </a:lvl3pPr>
            <a:lvl4pPr>
              <a:defRPr sz="1375"/>
            </a:lvl4pPr>
            <a:lvl5pPr>
              <a:defRPr sz="1375"/>
            </a:lvl5pPr>
            <a:lvl6pPr>
              <a:defRPr sz="1375"/>
            </a:lvl6pPr>
            <a:lvl7pPr>
              <a:defRPr sz="1375"/>
            </a:lvl7pPr>
            <a:lvl8pPr>
              <a:defRPr sz="1375"/>
            </a:lvl8pPr>
            <a:lvl9pPr>
              <a:defRPr sz="13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9896" y="1406556"/>
            <a:ext cx="3839099" cy="2605819"/>
          </a:xfrm>
        </p:spPr>
        <p:txBody>
          <a:bodyPr/>
          <a:lstStyle>
            <a:lvl1pPr marL="0" indent="0">
              <a:buNone/>
              <a:defRPr sz="1095"/>
            </a:lvl1pPr>
            <a:lvl2pPr marL="312420" indent="0">
              <a:buNone/>
              <a:defRPr sz="965"/>
            </a:lvl2pPr>
            <a:lvl3pPr marL="624840" indent="0">
              <a:buNone/>
              <a:defRPr sz="825"/>
            </a:lvl3pPr>
            <a:lvl4pPr marL="937260" indent="0">
              <a:buNone/>
              <a:defRPr sz="695"/>
            </a:lvl4pPr>
            <a:lvl5pPr marL="1249045" indent="0">
              <a:buNone/>
              <a:defRPr sz="695"/>
            </a:lvl5pPr>
            <a:lvl6pPr marL="1563370" indent="0">
              <a:buNone/>
              <a:defRPr sz="695"/>
            </a:lvl6pPr>
            <a:lvl7pPr marL="1873250" indent="0">
              <a:buNone/>
              <a:defRPr sz="695"/>
            </a:lvl7pPr>
            <a:lvl8pPr marL="2186940" indent="0">
              <a:buNone/>
              <a:defRPr sz="695"/>
            </a:lvl8pPr>
            <a:lvl9pPr marL="2498090" indent="0">
              <a:buNone/>
              <a:defRPr sz="6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896" y="312569"/>
            <a:ext cx="3839099" cy="1093987"/>
          </a:xfrm>
        </p:spPr>
        <p:txBody>
          <a:bodyPr anchor="b"/>
          <a:lstStyle>
            <a:lvl1pPr>
              <a:defRPr sz="219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060422" y="675060"/>
            <a:ext cx="6026013" cy="3331886"/>
          </a:xfrm>
        </p:spPr>
        <p:txBody>
          <a:bodyPr/>
          <a:lstStyle>
            <a:lvl1pPr marL="0" indent="0">
              <a:buNone/>
              <a:defRPr sz="2190"/>
            </a:lvl1pPr>
            <a:lvl2pPr marL="312420" indent="0">
              <a:buNone/>
              <a:defRPr sz="1930"/>
            </a:lvl2pPr>
            <a:lvl3pPr marL="624840" indent="0">
              <a:buNone/>
              <a:defRPr sz="1645"/>
            </a:lvl3pPr>
            <a:lvl4pPr marL="937260" indent="0">
              <a:buNone/>
              <a:defRPr sz="1375"/>
            </a:lvl4pPr>
            <a:lvl5pPr marL="1249045" indent="0">
              <a:buNone/>
              <a:defRPr sz="1375"/>
            </a:lvl5pPr>
            <a:lvl6pPr marL="1563370" indent="0">
              <a:buNone/>
              <a:defRPr sz="1375"/>
            </a:lvl6pPr>
            <a:lvl7pPr marL="1873250" indent="0">
              <a:buNone/>
              <a:defRPr sz="1375"/>
            </a:lvl7pPr>
            <a:lvl8pPr marL="2186940" indent="0">
              <a:buNone/>
              <a:defRPr sz="1375"/>
            </a:lvl8pPr>
            <a:lvl9pPr marL="2498090" indent="0">
              <a:buNone/>
              <a:defRPr sz="13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9896" y="1406556"/>
            <a:ext cx="3839099" cy="2605819"/>
          </a:xfrm>
        </p:spPr>
        <p:txBody>
          <a:bodyPr/>
          <a:lstStyle>
            <a:lvl1pPr marL="0" indent="0">
              <a:buNone/>
              <a:defRPr sz="1095"/>
            </a:lvl1pPr>
            <a:lvl2pPr marL="312420" indent="0">
              <a:buNone/>
              <a:defRPr sz="965"/>
            </a:lvl2pPr>
            <a:lvl3pPr marL="624840" indent="0">
              <a:buNone/>
              <a:defRPr sz="825"/>
            </a:lvl3pPr>
            <a:lvl4pPr marL="937260" indent="0">
              <a:buNone/>
              <a:defRPr sz="695"/>
            </a:lvl4pPr>
            <a:lvl5pPr marL="1249045" indent="0">
              <a:buNone/>
              <a:defRPr sz="695"/>
            </a:lvl5pPr>
            <a:lvl6pPr marL="1563370" indent="0">
              <a:buNone/>
              <a:defRPr sz="695"/>
            </a:lvl6pPr>
            <a:lvl7pPr marL="1873250" indent="0">
              <a:buNone/>
              <a:defRPr sz="695"/>
            </a:lvl7pPr>
            <a:lvl8pPr marL="2186940" indent="0">
              <a:buNone/>
              <a:defRPr sz="695"/>
            </a:lvl8pPr>
            <a:lvl9pPr marL="2498090" indent="0">
              <a:buNone/>
              <a:defRPr sz="6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518250" y="249619"/>
            <a:ext cx="2566634" cy="397330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8347" y="249619"/>
            <a:ext cx="7551113" cy="397330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18347" y="249619"/>
            <a:ext cx="10266538" cy="906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8347" y="1248101"/>
            <a:ext cx="10266538" cy="2974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18347" y="4345560"/>
            <a:ext cx="2678223" cy="2496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42943" y="4345560"/>
            <a:ext cx="4017341" cy="2496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406661" y="4345560"/>
            <a:ext cx="2678223" cy="2496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24840" rtl="0" eaLnBrk="1" latinLnBrk="0" hangingPunct="1">
        <a:lnSpc>
          <a:spcPct val="90000"/>
        </a:lnSpc>
        <a:spcBef>
          <a:spcPct val="0"/>
        </a:spcBef>
        <a:buNone/>
        <a:defRPr sz="30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845" indent="-156845" algn="l" defTabSz="62484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1930" kern="1200">
          <a:solidFill>
            <a:schemeClr val="tx1"/>
          </a:solidFill>
          <a:latin typeface="+mn-lt"/>
          <a:ea typeface="+mn-ea"/>
          <a:cs typeface="+mn-cs"/>
        </a:defRPr>
      </a:lvl1pPr>
      <a:lvl2pPr marL="469265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645" kern="1200">
          <a:solidFill>
            <a:schemeClr val="tx1"/>
          </a:solidFill>
          <a:latin typeface="+mn-lt"/>
          <a:ea typeface="+mn-ea"/>
          <a:cs typeface="+mn-cs"/>
        </a:defRPr>
      </a:lvl2pPr>
      <a:lvl3pPr marL="781685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375" kern="1200">
          <a:solidFill>
            <a:schemeClr val="tx1"/>
          </a:solidFill>
          <a:latin typeface="+mn-lt"/>
          <a:ea typeface="+mn-ea"/>
          <a:cs typeface="+mn-cs"/>
        </a:defRPr>
      </a:lvl3pPr>
      <a:lvl4pPr marL="1094105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4pPr>
      <a:lvl5pPr marL="1406525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5pPr>
      <a:lvl6pPr marL="1716405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6pPr>
      <a:lvl7pPr marL="2029460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7pPr>
      <a:lvl8pPr marL="2343785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8pPr>
      <a:lvl9pPr marL="2656840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1pPr>
      <a:lvl2pPr marL="31242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2pPr>
      <a:lvl3pPr marL="62484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3pPr>
      <a:lvl4pPr marL="93726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4pPr>
      <a:lvl5pPr marL="1249045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5pPr>
      <a:lvl6pPr marL="156337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6pPr>
      <a:lvl7pPr marL="187325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7pPr>
      <a:lvl8pPr marL="218694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8pPr>
      <a:lvl9pPr marL="249809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Fig. S6(B)"/>
          <p:cNvPicPr>
            <a:picLocks noChangeAspect="1"/>
          </p:cNvPicPr>
          <p:nvPr/>
        </p:nvPicPr>
        <p:blipFill>
          <a:blip r:embed="rId1"/>
          <a:srcRect l="7124" t="4193" r="9104" b="3202"/>
          <a:stretch>
            <a:fillRect/>
          </a:stretch>
        </p:blipFill>
        <p:spPr>
          <a:xfrm>
            <a:off x="6024245" y="195580"/>
            <a:ext cx="5546901" cy="3960000"/>
          </a:xfrm>
          <a:prstGeom prst="rect">
            <a:avLst/>
          </a:prstGeom>
        </p:spPr>
      </p:pic>
      <p:pic>
        <p:nvPicPr>
          <p:cNvPr id="2" name="图片 1" descr="Fig. S6(A)"/>
          <p:cNvPicPr>
            <a:picLocks noChangeAspect="1"/>
          </p:cNvPicPr>
          <p:nvPr/>
        </p:nvPicPr>
        <p:blipFill>
          <a:blip r:embed="rId2"/>
          <a:srcRect l="7184" t="4030" r="9162" b="3379"/>
          <a:stretch>
            <a:fillRect/>
          </a:stretch>
        </p:blipFill>
        <p:spPr>
          <a:xfrm>
            <a:off x="190500" y="186690"/>
            <a:ext cx="5547714" cy="3960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89872" y="4155841"/>
            <a:ext cx="11220211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1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S6.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(A) How the linear correlation coefficient changes as the power index c of height varies from -2 to 2 (weight vs weight</a:t>
            </a:r>
            <a:r>
              <a:rPr lang="en-US" altLang="en-US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</a:t>
            </a:r>
            <a:r>
              <a:rPr lang="en-US" altLang="zh-CN" sz="1100" baseline="30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) for all participants. (B) The internal linear correlation coefficients among weight, height, weight</a:t>
            </a:r>
            <a:r>
              <a:rPr lang="en-US" altLang="en-US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height, weight</a:t>
            </a:r>
            <a:r>
              <a:rPr lang="en-US" altLang="en-US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</a:t>
            </a:r>
            <a:r>
              <a:rPr lang="en-US" altLang="en-US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²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BMI, and weight/height for all participants.</a:t>
            </a:r>
            <a:endParaRPr lang="en-US" altLang="zh-CN" sz="11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188065" y="75046"/>
            <a:ext cx="92445" cy="241124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6015173" y="75046"/>
            <a:ext cx="92445" cy="241124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2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3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122</cp:revision>
  <dcterms:created xsi:type="dcterms:W3CDTF">2023-08-09T12:44:00Z</dcterms:created>
  <dcterms:modified xsi:type="dcterms:W3CDTF">2026-05-27T13:43:10Z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2052-12.1.0.26375</vt:lpwstr>
  </property>
</Properties>
</file>