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879580" cy="7019925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5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88065" y="1151072"/>
            <a:ext cx="8928369" cy="2448667"/>
          </a:xfrm>
        </p:spPr>
        <p:txBody>
          <a:bodyPr anchor="b"/>
          <a:lstStyle>
            <a:lvl1pPr algn="ctr">
              <a:defRPr sz="61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88065" y="3694172"/>
            <a:ext cx="8928369" cy="1698110"/>
          </a:xfrm>
        </p:spPr>
        <p:txBody>
          <a:bodyPr/>
          <a:lstStyle>
            <a:lvl1pPr marL="0" indent="0" algn="ctr">
              <a:buNone/>
              <a:defRPr sz="2465"/>
            </a:lvl1pPr>
            <a:lvl2pPr marL="468630" indent="0" algn="ctr">
              <a:buNone/>
              <a:defRPr sz="2060"/>
            </a:lvl2pPr>
            <a:lvl3pPr marL="937260" indent="0" algn="ctr">
              <a:buNone/>
              <a:defRPr sz="1855"/>
            </a:lvl3pPr>
            <a:lvl4pPr marL="1405255" indent="0" algn="ctr">
              <a:buNone/>
              <a:defRPr sz="1645"/>
            </a:lvl4pPr>
            <a:lvl5pPr marL="1873885" indent="0" algn="ctr">
              <a:buNone/>
              <a:defRPr sz="1645"/>
            </a:lvl5pPr>
            <a:lvl6pPr marL="2345055" indent="0" algn="ctr">
              <a:buNone/>
              <a:defRPr sz="1645"/>
            </a:lvl6pPr>
            <a:lvl7pPr marL="2809875" indent="0" algn="ctr">
              <a:buNone/>
              <a:defRPr sz="1645"/>
            </a:lvl7pPr>
            <a:lvl8pPr marL="3280410" indent="0" algn="ctr">
              <a:buNone/>
              <a:defRPr sz="1645"/>
            </a:lvl8pPr>
            <a:lvl9pPr marL="3747135" indent="0" algn="ctr">
              <a:buNone/>
              <a:defRPr sz="164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2232" y="1753472"/>
            <a:ext cx="10267625" cy="2925704"/>
          </a:xfrm>
        </p:spPr>
        <p:txBody>
          <a:bodyPr anchor="b"/>
          <a:lstStyle>
            <a:lvl1pPr>
              <a:defRPr sz="61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2232" y="4706853"/>
            <a:ext cx="10267625" cy="1538557"/>
          </a:xfrm>
        </p:spPr>
        <p:txBody>
          <a:bodyPr/>
          <a:lstStyle>
            <a:lvl1pPr marL="0" indent="0">
              <a:buNone/>
              <a:defRPr sz="2465">
                <a:solidFill>
                  <a:schemeClr val="tx1">
                    <a:tint val="75000"/>
                  </a:schemeClr>
                </a:solidFill>
              </a:defRPr>
            </a:lvl1pPr>
            <a:lvl2pPr marL="468630" indent="0">
              <a:buNone/>
              <a:defRPr sz="2060">
                <a:solidFill>
                  <a:schemeClr val="tx1">
                    <a:tint val="75000"/>
                  </a:schemeClr>
                </a:solidFill>
              </a:defRPr>
            </a:lvl2pPr>
            <a:lvl3pPr marL="937260" indent="0">
              <a:buNone/>
              <a:defRPr sz="1855">
                <a:solidFill>
                  <a:schemeClr val="tx1">
                    <a:tint val="75000"/>
                  </a:schemeClr>
                </a:solidFill>
              </a:defRPr>
            </a:lvl3pPr>
            <a:lvl4pPr marL="140525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4pPr>
            <a:lvl5pPr marL="187388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5pPr>
            <a:lvl6pPr marL="234505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6pPr>
            <a:lvl7pPr marL="280987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7pPr>
            <a:lvl8pPr marL="3280410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8pPr>
            <a:lvl9pPr marL="3747135" indent="0">
              <a:buNone/>
              <a:defRPr sz="16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8434" y="1872320"/>
            <a:ext cx="5059410" cy="4462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26651" y="1872320"/>
            <a:ext cx="5059410" cy="4462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9983" y="374462"/>
            <a:ext cx="10267625" cy="1359468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9983" y="1724163"/>
            <a:ext cx="5036158" cy="844983"/>
          </a:xfrm>
        </p:spPr>
        <p:txBody>
          <a:bodyPr anchor="b"/>
          <a:lstStyle>
            <a:lvl1pPr marL="0" indent="0">
              <a:buNone/>
              <a:defRPr sz="2465" b="1"/>
            </a:lvl1pPr>
            <a:lvl2pPr marL="468630" indent="0">
              <a:buNone/>
              <a:defRPr sz="2060" b="1"/>
            </a:lvl2pPr>
            <a:lvl3pPr marL="937260" indent="0">
              <a:buNone/>
              <a:defRPr sz="1855" b="1"/>
            </a:lvl3pPr>
            <a:lvl4pPr marL="1405255" indent="0">
              <a:buNone/>
              <a:defRPr sz="1645" b="1"/>
            </a:lvl4pPr>
            <a:lvl5pPr marL="1873885" indent="0">
              <a:buNone/>
              <a:defRPr sz="1645" b="1"/>
            </a:lvl5pPr>
            <a:lvl6pPr marL="2345055" indent="0">
              <a:buNone/>
              <a:defRPr sz="1645" b="1"/>
            </a:lvl6pPr>
            <a:lvl7pPr marL="2809875" indent="0">
              <a:buNone/>
              <a:defRPr sz="1645" b="1"/>
            </a:lvl7pPr>
            <a:lvl8pPr marL="3280410" indent="0">
              <a:buNone/>
              <a:defRPr sz="1645" b="1"/>
            </a:lvl8pPr>
            <a:lvl9pPr marL="3747135" indent="0">
              <a:buNone/>
              <a:defRPr sz="164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19983" y="2569146"/>
            <a:ext cx="5036158" cy="377883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26651" y="1724163"/>
            <a:ext cx="5060958" cy="844983"/>
          </a:xfrm>
        </p:spPr>
        <p:txBody>
          <a:bodyPr anchor="b"/>
          <a:lstStyle>
            <a:lvl1pPr marL="0" indent="0">
              <a:buNone/>
              <a:defRPr sz="2465" b="1"/>
            </a:lvl1pPr>
            <a:lvl2pPr marL="468630" indent="0">
              <a:buNone/>
              <a:defRPr sz="2060" b="1"/>
            </a:lvl2pPr>
            <a:lvl3pPr marL="937260" indent="0">
              <a:buNone/>
              <a:defRPr sz="1855" b="1"/>
            </a:lvl3pPr>
            <a:lvl4pPr marL="1405255" indent="0">
              <a:buNone/>
              <a:defRPr sz="1645" b="1"/>
            </a:lvl4pPr>
            <a:lvl5pPr marL="1873885" indent="0">
              <a:buNone/>
              <a:defRPr sz="1645" b="1"/>
            </a:lvl5pPr>
            <a:lvl6pPr marL="2345055" indent="0">
              <a:buNone/>
              <a:defRPr sz="1645" b="1"/>
            </a:lvl6pPr>
            <a:lvl7pPr marL="2809875" indent="0">
              <a:buNone/>
              <a:defRPr sz="1645" b="1"/>
            </a:lvl7pPr>
            <a:lvl8pPr marL="3280410" indent="0">
              <a:buNone/>
              <a:defRPr sz="1645" b="1"/>
            </a:lvl8pPr>
            <a:lvl9pPr marL="3747135" indent="0">
              <a:buNone/>
              <a:defRPr sz="164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26651" y="2569146"/>
            <a:ext cx="5060958" cy="377883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9983" y="468896"/>
            <a:ext cx="3839505" cy="1641129"/>
          </a:xfrm>
        </p:spPr>
        <p:txBody>
          <a:bodyPr anchor="b"/>
          <a:lstStyle>
            <a:lvl1pPr>
              <a:defRPr sz="328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60958" y="1012681"/>
            <a:ext cx="6026651" cy="4998281"/>
          </a:xfrm>
        </p:spPr>
        <p:txBody>
          <a:bodyPr/>
          <a:lstStyle>
            <a:lvl1pPr>
              <a:defRPr sz="3285"/>
            </a:lvl1pPr>
            <a:lvl2pPr>
              <a:defRPr sz="2895"/>
            </a:lvl2pPr>
            <a:lvl3pPr>
              <a:defRPr sz="2465"/>
            </a:lvl3pPr>
            <a:lvl4pPr>
              <a:defRPr sz="2060"/>
            </a:lvl4pPr>
            <a:lvl5pPr>
              <a:defRPr sz="2060"/>
            </a:lvl5pPr>
            <a:lvl6pPr>
              <a:defRPr sz="2060"/>
            </a:lvl6pPr>
            <a:lvl7pPr>
              <a:defRPr sz="2060"/>
            </a:lvl7pPr>
            <a:lvl8pPr>
              <a:defRPr sz="2060"/>
            </a:lvl8pPr>
            <a:lvl9pPr>
              <a:defRPr sz="206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9983" y="2110025"/>
            <a:ext cx="3839505" cy="3909082"/>
          </a:xfrm>
        </p:spPr>
        <p:txBody>
          <a:bodyPr/>
          <a:lstStyle>
            <a:lvl1pPr marL="0" indent="0">
              <a:buNone/>
              <a:defRPr sz="1645"/>
            </a:lvl1pPr>
            <a:lvl2pPr marL="468630" indent="0">
              <a:buNone/>
              <a:defRPr sz="1450"/>
            </a:lvl2pPr>
            <a:lvl3pPr marL="937260" indent="0">
              <a:buNone/>
              <a:defRPr sz="1240"/>
            </a:lvl3pPr>
            <a:lvl4pPr marL="1405255" indent="0">
              <a:buNone/>
              <a:defRPr sz="1045"/>
            </a:lvl4pPr>
            <a:lvl5pPr marL="1873885" indent="0">
              <a:buNone/>
              <a:defRPr sz="1045"/>
            </a:lvl5pPr>
            <a:lvl6pPr marL="2345055" indent="0">
              <a:buNone/>
              <a:defRPr sz="1045"/>
            </a:lvl6pPr>
            <a:lvl7pPr marL="2809875" indent="0">
              <a:buNone/>
              <a:defRPr sz="1045"/>
            </a:lvl7pPr>
            <a:lvl8pPr marL="3280410" indent="0">
              <a:buNone/>
              <a:defRPr sz="1045"/>
            </a:lvl8pPr>
            <a:lvl9pPr marL="3747135" indent="0">
              <a:buNone/>
              <a:defRPr sz="104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9983" y="468896"/>
            <a:ext cx="3839505" cy="1641129"/>
          </a:xfrm>
        </p:spPr>
        <p:txBody>
          <a:bodyPr anchor="b"/>
          <a:lstStyle>
            <a:lvl1pPr>
              <a:defRPr sz="328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060958" y="1012681"/>
            <a:ext cx="6026651" cy="4998281"/>
          </a:xfrm>
        </p:spPr>
        <p:txBody>
          <a:bodyPr/>
          <a:lstStyle>
            <a:lvl1pPr marL="0" indent="0">
              <a:buNone/>
              <a:defRPr sz="3285"/>
            </a:lvl1pPr>
            <a:lvl2pPr marL="468630" indent="0">
              <a:buNone/>
              <a:defRPr sz="2895"/>
            </a:lvl2pPr>
            <a:lvl3pPr marL="937260" indent="0">
              <a:buNone/>
              <a:defRPr sz="2465"/>
            </a:lvl3pPr>
            <a:lvl4pPr marL="1405255" indent="0">
              <a:buNone/>
              <a:defRPr sz="2060"/>
            </a:lvl4pPr>
            <a:lvl5pPr marL="1873885" indent="0">
              <a:buNone/>
              <a:defRPr sz="2060"/>
            </a:lvl5pPr>
            <a:lvl6pPr marL="2345055" indent="0">
              <a:buNone/>
              <a:defRPr sz="2060"/>
            </a:lvl6pPr>
            <a:lvl7pPr marL="2809875" indent="0">
              <a:buNone/>
              <a:defRPr sz="2060"/>
            </a:lvl7pPr>
            <a:lvl8pPr marL="3280410" indent="0">
              <a:buNone/>
              <a:defRPr sz="2060"/>
            </a:lvl8pPr>
            <a:lvl9pPr marL="3747135" indent="0">
              <a:buNone/>
              <a:defRPr sz="206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9983" y="2110025"/>
            <a:ext cx="3839505" cy="3909082"/>
          </a:xfrm>
        </p:spPr>
        <p:txBody>
          <a:bodyPr/>
          <a:lstStyle>
            <a:lvl1pPr marL="0" indent="0">
              <a:buNone/>
              <a:defRPr sz="1645"/>
            </a:lvl1pPr>
            <a:lvl2pPr marL="468630" indent="0">
              <a:buNone/>
              <a:defRPr sz="1450"/>
            </a:lvl2pPr>
            <a:lvl3pPr marL="937260" indent="0">
              <a:buNone/>
              <a:defRPr sz="1240"/>
            </a:lvl3pPr>
            <a:lvl4pPr marL="1405255" indent="0">
              <a:buNone/>
              <a:defRPr sz="1045"/>
            </a:lvl4pPr>
            <a:lvl5pPr marL="1873885" indent="0">
              <a:buNone/>
              <a:defRPr sz="1045"/>
            </a:lvl5pPr>
            <a:lvl6pPr marL="2345055" indent="0">
              <a:buNone/>
              <a:defRPr sz="1045"/>
            </a:lvl6pPr>
            <a:lvl7pPr marL="2809875" indent="0">
              <a:buNone/>
              <a:defRPr sz="1045"/>
            </a:lvl7pPr>
            <a:lvl8pPr marL="3280410" indent="0">
              <a:buNone/>
              <a:defRPr sz="1045"/>
            </a:lvl8pPr>
            <a:lvl9pPr marL="3747135" indent="0">
              <a:buNone/>
              <a:defRPr sz="104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519152" y="374462"/>
            <a:ext cx="2566906" cy="596049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8434" y="374462"/>
            <a:ext cx="7551912" cy="596049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18434" y="374462"/>
            <a:ext cx="10267625" cy="13594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8434" y="1872320"/>
            <a:ext cx="10267625" cy="44626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18434" y="6518930"/>
            <a:ext cx="2678507" cy="374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43360" y="6518930"/>
            <a:ext cx="4017767" cy="374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407551" y="6518930"/>
            <a:ext cx="2678507" cy="374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37260" rtl="0" eaLnBrk="1" latinLnBrk="0" hangingPunct="1">
        <a:lnSpc>
          <a:spcPct val="90000"/>
        </a:lnSpc>
        <a:spcBef>
          <a:spcPct val="0"/>
        </a:spcBef>
        <a:buNone/>
        <a:defRPr sz="45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5585" indent="-235585" algn="l" defTabSz="937260" rtl="0" eaLnBrk="1" latinLnBrk="0" hangingPunct="1">
        <a:lnSpc>
          <a:spcPct val="90000"/>
        </a:lnSpc>
        <a:spcBef>
          <a:spcPct val="203000"/>
        </a:spcBef>
        <a:buFont typeface="Arial" panose="020B0604020202020204" pitchFamily="34" charset="0"/>
        <a:buChar char="•"/>
        <a:defRPr sz="2895" kern="1200">
          <a:solidFill>
            <a:schemeClr val="tx1"/>
          </a:solidFill>
          <a:latin typeface="+mn-lt"/>
          <a:ea typeface="+mn-ea"/>
          <a:cs typeface="+mn-cs"/>
        </a:defRPr>
      </a:lvl1pPr>
      <a:lvl2pPr marL="70421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65" kern="1200">
          <a:solidFill>
            <a:schemeClr val="tx1"/>
          </a:solidFill>
          <a:latin typeface="+mn-lt"/>
          <a:ea typeface="+mn-ea"/>
          <a:cs typeface="+mn-cs"/>
        </a:defRPr>
      </a:lvl2pPr>
      <a:lvl3pPr marL="117284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60" kern="1200">
          <a:solidFill>
            <a:schemeClr val="tx1"/>
          </a:solidFill>
          <a:latin typeface="+mn-lt"/>
          <a:ea typeface="+mn-ea"/>
          <a:cs typeface="+mn-cs"/>
        </a:defRPr>
      </a:lvl3pPr>
      <a:lvl4pPr marL="164147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4pPr>
      <a:lvl5pPr marL="211010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5pPr>
      <a:lvl6pPr marL="2574290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6pPr>
      <a:lvl7pPr marL="304482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7pPr>
      <a:lvl8pPr marL="3515360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8pPr>
      <a:lvl9pPr marL="3985895" indent="-235585" algn="l" defTabSz="93726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5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1pPr>
      <a:lvl2pPr marL="46863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2pPr>
      <a:lvl3pPr marL="93726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3pPr>
      <a:lvl4pPr marL="140525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4pPr>
      <a:lvl5pPr marL="187388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5pPr>
      <a:lvl6pPr marL="234505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6pPr>
      <a:lvl7pPr marL="280987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7pPr>
      <a:lvl8pPr marL="3280410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8pPr>
      <a:lvl9pPr marL="3747135" algn="l" defTabSz="937260" rtl="0" eaLnBrk="1" latinLnBrk="0" hangingPunct="1">
        <a:defRPr sz="185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4.xml"/><Relationship Id="rId7" Type="http://schemas.openxmlformats.org/officeDocument/2006/relationships/tags" Target="../tags/tag3.xml"/><Relationship Id="rId6" Type="http://schemas.openxmlformats.org/officeDocument/2006/relationships/tags" Target="../tags/tag2.xml"/><Relationship Id="rId5" Type="http://schemas.openxmlformats.org/officeDocument/2006/relationships/tags" Target="../tags/tag1.xml"/><Relationship Id="rId4" Type="http://schemas.openxmlformats.org/officeDocument/2006/relationships/image" Target="../media/image4.emf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图片 11" descr="Fig. S9(D)"/>
          <p:cNvPicPr>
            <a:picLocks noChangeAspect="1"/>
          </p:cNvPicPr>
          <p:nvPr/>
        </p:nvPicPr>
        <p:blipFill>
          <a:blip r:embed="rId1"/>
          <a:srcRect l="8908" t="2095" r="14756" b="1906"/>
          <a:stretch>
            <a:fillRect/>
          </a:stretch>
        </p:blipFill>
        <p:spPr>
          <a:xfrm>
            <a:off x="5999055" y="3195675"/>
            <a:ext cx="5571870" cy="2700000"/>
          </a:xfrm>
          <a:prstGeom prst="rect">
            <a:avLst/>
          </a:prstGeom>
        </p:spPr>
      </p:pic>
      <p:pic>
        <p:nvPicPr>
          <p:cNvPr id="10" name="图片 9" descr="Fig. S9(C)"/>
          <p:cNvPicPr>
            <a:picLocks noChangeAspect="1"/>
          </p:cNvPicPr>
          <p:nvPr/>
        </p:nvPicPr>
        <p:blipFill>
          <a:blip r:embed="rId2"/>
          <a:srcRect l="8847" t="1792" r="13550" b="2987"/>
          <a:stretch>
            <a:fillRect/>
          </a:stretch>
        </p:blipFill>
        <p:spPr>
          <a:xfrm>
            <a:off x="197060" y="3168370"/>
            <a:ext cx="5692473" cy="2700000"/>
          </a:xfrm>
          <a:prstGeom prst="rect">
            <a:avLst/>
          </a:prstGeom>
        </p:spPr>
      </p:pic>
      <p:pic>
        <p:nvPicPr>
          <p:cNvPr id="6" name="图片 5" descr="Fig. S9(B)"/>
          <p:cNvPicPr>
            <a:picLocks noChangeAspect="1"/>
          </p:cNvPicPr>
          <p:nvPr/>
        </p:nvPicPr>
        <p:blipFill>
          <a:blip r:embed="rId3"/>
          <a:srcRect l="8496" t="2194" r="14228" b="1470"/>
          <a:stretch>
            <a:fillRect/>
          </a:stretch>
        </p:blipFill>
        <p:spPr>
          <a:xfrm>
            <a:off x="5973655" y="311505"/>
            <a:ext cx="5626293" cy="2700000"/>
          </a:xfrm>
          <a:prstGeom prst="rect">
            <a:avLst/>
          </a:prstGeom>
        </p:spPr>
      </p:pic>
      <p:pic>
        <p:nvPicPr>
          <p:cNvPr id="5" name="图片 4" descr="Fig. S9(A)"/>
          <p:cNvPicPr>
            <a:picLocks noChangeAspect="1"/>
          </p:cNvPicPr>
          <p:nvPr/>
        </p:nvPicPr>
        <p:blipFill>
          <a:blip r:embed="rId4"/>
          <a:srcRect l="8964" t="1931" r="13815" b="1783"/>
          <a:stretch>
            <a:fillRect/>
          </a:stretch>
        </p:blipFill>
        <p:spPr>
          <a:xfrm>
            <a:off x="205315" y="325475"/>
            <a:ext cx="5608287" cy="270000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253365" y="6082665"/>
            <a:ext cx="1142301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Fig. S7. Randomization test results.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Random pairing of weight and height while preserving their marginal distributions for 11‑year‑old females.​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B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Comparison of correlation coefficients (r(weight, weight</a:t>
            </a:r>
            <a:r>
              <a:rPr lang="en-US" altLang="en-US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×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height)) between randomized data and raw data. We generated 1,000 randomized datasets; the solid line shows the mean correlation coefficient across randomizations, and the shaded region indicates the 5th to 95th percentile range.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Comparison of sWHI distributions between randomized data and raw data for 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11‑year‑old females. (</a:t>
            </a:r>
            <a:r>
              <a:rPr lang="en-US" altLang="zh-CN" sz="11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D</a:t>
            </a:r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) Comparison of sWHI variance between randomized data and raw data. We generated 1,000 randomized datasets; the solid line shows the mean variance across randomizations, and the shaded region indicates the 5th to 95th percentile range.</a:t>
            </a:r>
            <a:endParaRPr lang="en-US" altLang="zh-CN" sz="11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文本框 25"/>
          <p:cNvSpPr txBox="1"/>
          <p:nvPr>
            <p:custDataLst>
              <p:tags r:id="rId5"/>
            </p:custDataLst>
          </p:nvPr>
        </p:nvSpPr>
        <p:spPr>
          <a:xfrm>
            <a:off x="188491" y="1168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6"/>
            </p:custDataLst>
          </p:nvPr>
        </p:nvSpPr>
        <p:spPr>
          <a:xfrm>
            <a:off x="6015805" y="1168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88491" y="31140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C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6015805" y="3114099"/>
            <a:ext cx="92448" cy="24113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D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2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3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4.xml><?xml version="1.0" encoding="utf-8"?>
<p:tagLst xmlns:p="http://schemas.openxmlformats.org/presentationml/2006/main">
  <p:tag name="KSO_WM_DIAGRAM_VIRTUALLY_FRAME" val="{&quot;height&quot;:228.56132558288633,&quot;left&quot;:11.333388903839998,&quot;top&quot;:6.83709360656682,&quot;width&quot;:907.8538120238943}"/>
</p:tagLst>
</file>

<file path=ppt/tags/tag5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780</Words>
  <Application>WPS 演示</Application>
  <PresentationFormat>宽屏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139</cp:revision>
  <dcterms:created xsi:type="dcterms:W3CDTF">2023-08-09T12:44:00Z</dcterms:created>
  <dcterms:modified xsi:type="dcterms:W3CDTF">2026-07-08T07:12:44Z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