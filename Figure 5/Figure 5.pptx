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4679950" cy="593979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3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6801" y="974924"/>
            <a:ext cx="3520795" cy="2073956"/>
          </a:xfrm>
        </p:spPr>
        <p:txBody>
          <a:bodyPr anchor="b"/>
          <a:lstStyle>
            <a:lvl1pPr algn="ctr">
              <a:defRPr sz="30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6801" y="3128858"/>
            <a:ext cx="3520795" cy="1438253"/>
          </a:xfrm>
        </p:spPr>
        <p:txBody>
          <a:bodyPr/>
          <a:lstStyle>
            <a:lvl1pPr marL="0" indent="0" algn="ctr">
              <a:buNone/>
              <a:defRPr sz="1230"/>
            </a:lvl1pPr>
            <a:lvl2pPr marL="234315" indent="0" algn="ctr">
              <a:buNone/>
              <a:defRPr sz="1025"/>
            </a:lvl2pPr>
            <a:lvl3pPr marL="467995" indent="0" algn="ctr">
              <a:buNone/>
              <a:defRPr sz="930"/>
            </a:lvl3pPr>
            <a:lvl4pPr marL="702310" indent="0" algn="ctr">
              <a:buNone/>
              <a:defRPr sz="820"/>
            </a:lvl4pPr>
            <a:lvl5pPr marL="937895" indent="0" algn="ctr">
              <a:buNone/>
              <a:defRPr sz="820"/>
            </a:lvl5pPr>
            <a:lvl6pPr marL="1172210" indent="0" algn="ctr">
              <a:buNone/>
              <a:defRPr sz="820"/>
            </a:lvl6pPr>
            <a:lvl7pPr marL="1405255" indent="0" algn="ctr">
              <a:buNone/>
              <a:defRPr sz="820"/>
            </a:lvl7pPr>
            <a:lvl8pPr marL="1640205" indent="0" algn="ctr">
              <a:buNone/>
              <a:defRPr sz="820"/>
            </a:lvl8pPr>
            <a:lvl9pPr marL="1873885" indent="0" algn="ctr">
              <a:buNone/>
              <a:defRPr sz="82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294" y="1485140"/>
            <a:ext cx="4048915" cy="2477990"/>
          </a:xfrm>
        </p:spPr>
        <p:txBody>
          <a:bodyPr anchor="b"/>
          <a:lstStyle>
            <a:lvl1pPr>
              <a:defRPr sz="30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0294" y="3986571"/>
            <a:ext cx="4048915" cy="1303114"/>
          </a:xfrm>
        </p:spPr>
        <p:txBody>
          <a:bodyPr/>
          <a:lstStyle>
            <a:lvl1pPr marL="0" indent="0">
              <a:buNone/>
              <a:defRPr sz="1230">
                <a:solidFill>
                  <a:schemeClr val="tx1">
                    <a:tint val="75000"/>
                  </a:schemeClr>
                </a:solidFill>
              </a:defRPr>
            </a:lvl1pPr>
            <a:lvl2pPr marL="234315" indent="0">
              <a:buNone/>
              <a:defRPr sz="1025">
                <a:solidFill>
                  <a:schemeClr val="tx1">
                    <a:tint val="75000"/>
                  </a:schemeClr>
                </a:solidFill>
              </a:defRPr>
            </a:lvl2pPr>
            <a:lvl3pPr marL="467995" indent="0">
              <a:buNone/>
              <a:defRPr sz="930">
                <a:solidFill>
                  <a:schemeClr val="tx1">
                    <a:tint val="75000"/>
                  </a:schemeClr>
                </a:solidFill>
              </a:defRPr>
            </a:lvl3pPr>
            <a:lvl4pPr marL="70231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4pPr>
            <a:lvl5pPr marL="93789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5pPr>
            <a:lvl6pPr marL="117221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6pPr>
            <a:lvl7pPr marL="140525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7pPr>
            <a:lvl8pPr marL="164020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8pPr>
            <a:lvl9pPr marL="187388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2741" y="1585803"/>
            <a:ext cx="1995121" cy="377972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76537" y="1585803"/>
            <a:ext cx="1995121" cy="377972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353" y="317156"/>
            <a:ext cx="4048915" cy="115143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3353" y="1460320"/>
            <a:ext cx="1985951" cy="715679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30" b="1"/>
            </a:lvl3pPr>
            <a:lvl4pPr marL="702310" indent="0">
              <a:buNone/>
              <a:defRPr sz="820" b="1"/>
            </a:lvl4pPr>
            <a:lvl5pPr marL="937895" indent="0">
              <a:buNone/>
              <a:defRPr sz="820" b="1"/>
            </a:lvl5pPr>
            <a:lvl6pPr marL="1172210" indent="0">
              <a:buNone/>
              <a:defRPr sz="820" b="1"/>
            </a:lvl6pPr>
            <a:lvl7pPr marL="1405255" indent="0">
              <a:buNone/>
              <a:defRPr sz="820" b="1"/>
            </a:lvl7pPr>
            <a:lvl8pPr marL="1640205" indent="0">
              <a:buNone/>
              <a:defRPr sz="820" b="1"/>
            </a:lvl8pPr>
            <a:lvl9pPr marL="1873885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3353" y="2175996"/>
            <a:ext cx="1985951" cy="320056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76537" y="1460320"/>
            <a:ext cx="1995729" cy="715679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30" b="1"/>
            </a:lvl3pPr>
            <a:lvl4pPr marL="702310" indent="0">
              <a:buNone/>
              <a:defRPr sz="820" b="1"/>
            </a:lvl4pPr>
            <a:lvl5pPr marL="937895" indent="0">
              <a:buNone/>
              <a:defRPr sz="820" b="1"/>
            </a:lvl5pPr>
            <a:lvl6pPr marL="1172210" indent="0">
              <a:buNone/>
              <a:defRPr sz="820" b="1"/>
            </a:lvl6pPr>
            <a:lvl7pPr marL="1405255" indent="0">
              <a:buNone/>
              <a:defRPr sz="820" b="1"/>
            </a:lvl7pPr>
            <a:lvl8pPr marL="1640205" indent="0">
              <a:buNone/>
              <a:defRPr sz="820" b="1"/>
            </a:lvl8pPr>
            <a:lvl9pPr marL="1873885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376537" y="2175996"/>
            <a:ext cx="1995729" cy="320056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353" y="397141"/>
            <a:ext cx="1514066" cy="1389989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95729" y="857714"/>
            <a:ext cx="2376537" cy="4233405"/>
          </a:xfrm>
        </p:spPr>
        <p:txBody>
          <a:bodyPr/>
          <a:lstStyle>
            <a:lvl1pPr>
              <a:defRPr sz="1640"/>
            </a:lvl1pPr>
            <a:lvl2pPr>
              <a:defRPr sz="1445"/>
            </a:lvl2pPr>
            <a:lvl3pPr>
              <a:defRPr sz="1230"/>
            </a:lvl3pPr>
            <a:lvl4pPr>
              <a:defRPr sz="1025"/>
            </a:lvl4pPr>
            <a:lvl5pPr>
              <a:defRPr sz="1025"/>
            </a:lvl5pPr>
            <a:lvl6pPr>
              <a:defRPr sz="1025"/>
            </a:lvl6pPr>
            <a:lvl7pPr>
              <a:defRPr sz="1025"/>
            </a:lvl7pPr>
            <a:lvl8pPr>
              <a:defRPr sz="1025"/>
            </a:lvl8pPr>
            <a:lvl9pPr>
              <a:defRPr sz="10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3353" y="1787129"/>
            <a:ext cx="1514066" cy="3310883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20"/>
            </a:lvl2pPr>
            <a:lvl3pPr marL="467995" indent="0">
              <a:buNone/>
              <a:defRPr sz="620"/>
            </a:lvl3pPr>
            <a:lvl4pPr marL="702310" indent="0">
              <a:buNone/>
              <a:defRPr sz="520"/>
            </a:lvl4pPr>
            <a:lvl5pPr marL="937895" indent="0">
              <a:buNone/>
              <a:defRPr sz="520"/>
            </a:lvl5pPr>
            <a:lvl6pPr marL="1172210" indent="0">
              <a:buNone/>
              <a:defRPr sz="520"/>
            </a:lvl6pPr>
            <a:lvl7pPr marL="1405255" indent="0">
              <a:buNone/>
              <a:defRPr sz="520"/>
            </a:lvl7pPr>
            <a:lvl8pPr marL="1640205" indent="0">
              <a:buNone/>
              <a:defRPr sz="520"/>
            </a:lvl8pPr>
            <a:lvl9pPr marL="1873885" indent="0">
              <a:buNone/>
              <a:defRPr sz="52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353" y="397141"/>
            <a:ext cx="1514066" cy="1389989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95729" y="857714"/>
            <a:ext cx="2376537" cy="4233405"/>
          </a:xfrm>
        </p:spPr>
        <p:txBody>
          <a:bodyPr/>
          <a:lstStyle>
            <a:lvl1pPr marL="0" indent="0">
              <a:buNone/>
              <a:defRPr sz="1640"/>
            </a:lvl1pPr>
            <a:lvl2pPr marL="234315" indent="0">
              <a:buNone/>
              <a:defRPr sz="1445"/>
            </a:lvl2pPr>
            <a:lvl3pPr marL="467995" indent="0">
              <a:buNone/>
              <a:defRPr sz="1230"/>
            </a:lvl3pPr>
            <a:lvl4pPr marL="702310" indent="0">
              <a:buNone/>
              <a:defRPr sz="1025"/>
            </a:lvl4pPr>
            <a:lvl5pPr marL="937895" indent="0">
              <a:buNone/>
              <a:defRPr sz="1025"/>
            </a:lvl5pPr>
            <a:lvl6pPr marL="1172210" indent="0">
              <a:buNone/>
              <a:defRPr sz="1025"/>
            </a:lvl6pPr>
            <a:lvl7pPr marL="1405255" indent="0">
              <a:buNone/>
              <a:defRPr sz="1025"/>
            </a:lvl7pPr>
            <a:lvl8pPr marL="1640205" indent="0">
              <a:buNone/>
              <a:defRPr sz="1025"/>
            </a:lvl8pPr>
            <a:lvl9pPr marL="1873885" indent="0">
              <a:buNone/>
              <a:defRPr sz="102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3353" y="1787129"/>
            <a:ext cx="1514066" cy="3310883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20"/>
            </a:lvl2pPr>
            <a:lvl3pPr marL="467995" indent="0">
              <a:buNone/>
              <a:defRPr sz="620"/>
            </a:lvl3pPr>
            <a:lvl4pPr marL="702310" indent="0">
              <a:buNone/>
              <a:defRPr sz="520"/>
            </a:lvl4pPr>
            <a:lvl5pPr marL="937895" indent="0">
              <a:buNone/>
              <a:defRPr sz="520"/>
            </a:lvl5pPr>
            <a:lvl6pPr marL="1172210" indent="0">
              <a:buNone/>
              <a:defRPr sz="520"/>
            </a:lvl6pPr>
            <a:lvl7pPr marL="1405255" indent="0">
              <a:buNone/>
              <a:defRPr sz="520"/>
            </a:lvl7pPr>
            <a:lvl8pPr marL="1640205" indent="0">
              <a:buNone/>
              <a:defRPr sz="520"/>
            </a:lvl8pPr>
            <a:lvl9pPr marL="1873885" indent="0">
              <a:buNone/>
              <a:defRPr sz="52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359427" y="317156"/>
            <a:ext cx="1012227" cy="504837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2741" y="317156"/>
            <a:ext cx="2978008" cy="504837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22741" y="317156"/>
            <a:ext cx="4048915" cy="11514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2741" y="1585803"/>
            <a:ext cx="4048915" cy="3779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22741" y="5521353"/>
            <a:ext cx="1056239" cy="317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55016" y="5521353"/>
            <a:ext cx="1584360" cy="317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315418" y="5521353"/>
            <a:ext cx="1056239" cy="317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67995" rtl="0" eaLnBrk="1" latinLnBrk="0" hangingPunct="1">
        <a:lnSpc>
          <a:spcPct val="90000"/>
        </a:lnSpc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8110" indent="-118110" algn="l" defTabSz="467995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1445" kern="1200">
          <a:solidFill>
            <a:schemeClr val="tx1"/>
          </a:solidFill>
          <a:latin typeface="+mn-lt"/>
          <a:ea typeface="+mn-ea"/>
          <a:cs typeface="+mn-cs"/>
        </a:defRPr>
      </a:lvl1pPr>
      <a:lvl2pPr marL="351790" indent="-118110" algn="l" defTabSz="467995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2pPr>
      <a:lvl3pPr marL="586740" indent="-118110" algn="l" defTabSz="467995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25" kern="1200">
          <a:solidFill>
            <a:schemeClr val="tx1"/>
          </a:solidFill>
          <a:latin typeface="+mn-lt"/>
          <a:ea typeface="+mn-ea"/>
          <a:cs typeface="+mn-cs"/>
        </a:defRPr>
      </a:lvl3pPr>
      <a:lvl4pPr marL="820420" indent="-118110" algn="l" defTabSz="467995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4pPr>
      <a:lvl5pPr marL="1054735" indent="-118110" algn="l" defTabSz="467995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5pPr>
      <a:lvl6pPr marL="1287145" indent="-118110" algn="l" defTabSz="467995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6pPr>
      <a:lvl7pPr marL="1522095" indent="-118110" algn="l" defTabSz="467995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7pPr>
      <a:lvl8pPr marL="1757680" indent="-118110" algn="l" defTabSz="467995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8pPr>
      <a:lvl9pPr marL="1992630" indent="-118110" algn="l" defTabSz="467995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67995" rtl="0" eaLnBrk="1" latinLnBrk="0" hangingPunct="1">
        <a:defRPr sz="930" kern="1200">
          <a:solidFill>
            <a:schemeClr val="tx1"/>
          </a:solidFill>
          <a:latin typeface="+mn-lt"/>
          <a:ea typeface="+mn-ea"/>
          <a:cs typeface="+mn-cs"/>
        </a:defRPr>
      </a:lvl1pPr>
      <a:lvl2pPr marL="234315" algn="l" defTabSz="467995" rtl="0" eaLnBrk="1" latinLnBrk="0" hangingPunct="1">
        <a:defRPr sz="930" kern="1200">
          <a:solidFill>
            <a:schemeClr val="tx1"/>
          </a:solidFill>
          <a:latin typeface="+mn-lt"/>
          <a:ea typeface="+mn-ea"/>
          <a:cs typeface="+mn-cs"/>
        </a:defRPr>
      </a:lvl2pPr>
      <a:lvl3pPr marL="467995" algn="l" defTabSz="467995" rtl="0" eaLnBrk="1" latinLnBrk="0" hangingPunct="1">
        <a:defRPr sz="930" kern="1200">
          <a:solidFill>
            <a:schemeClr val="tx1"/>
          </a:solidFill>
          <a:latin typeface="+mn-lt"/>
          <a:ea typeface="+mn-ea"/>
          <a:cs typeface="+mn-cs"/>
        </a:defRPr>
      </a:lvl3pPr>
      <a:lvl4pPr marL="702310" algn="l" defTabSz="467995" rtl="0" eaLnBrk="1" latinLnBrk="0" hangingPunct="1">
        <a:defRPr sz="930" kern="1200">
          <a:solidFill>
            <a:schemeClr val="tx1"/>
          </a:solidFill>
          <a:latin typeface="+mn-lt"/>
          <a:ea typeface="+mn-ea"/>
          <a:cs typeface="+mn-cs"/>
        </a:defRPr>
      </a:lvl4pPr>
      <a:lvl5pPr marL="937895" algn="l" defTabSz="467995" rtl="0" eaLnBrk="1" latinLnBrk="0" hangingPunct="1">
        <a:defRPr sz="930" kern="1200">
          <a:solidFill>
            <a:schemeClr val="tx1"/>
          </a:solidFill>
          <a:latin typeface="+mn-lt"/>
          <a:ea typeface="+mn-ea"/>
          <a:cs typeface="+mn-cs"/>
        </a:defRPr>
      </a:lvl5pPr>
      <a:lvl6pPr marL="1172210" algn="l" defTabSz="467995" rtl="0" eaLnBrk="1" latinLnBrk="0" hangingPunct="1">
        <a:defRPr sz="930" kern="1200">
          <a:solidFill>
            <a:schemeClr val="tx1"/>
          </a:solidFill>
          <a:latin typeface="+mn-lt"/>
          <a:ea typeface="+mn-ea"/>
          <a:cs typeface="+mn-cs"/>
        </a:defRPr>
      </a:lvl6pPr>
      <a:lvl7pPr marL="1405255" algn="l" defTabSz="467995" rtl="0" eaLnBrk="1" latinLnBrk="0" hangingPunct="1">
        <a:defRPr sz="930" kern="1200">
          <a:solidFill>
            <a:schemeClr val="tx1"/>
          </a:solidFill>
          <a:latin typeface="+mn-lt"/>
          <a:ea typeface="+mn-ea"/>
          <a:cs typeface="+mn-cs"/>
        </a:defRPr>
      </a:lvl7pPr>
      <a:lvl8pPr marL="1640205" algn="l" defTabSz="467995" rtl="0" eaLnBrk="1" latinLnBrk="0" hangingPunct="1">
        <a:defRPr sz="930" kern="1200">
          <a:solidFill>
            <a:schemeClr val="tx1"/>
          </a:solidFill>
          <a:latin typeface="+mn-lt"/>
          <a:ea typeface="+mn-ea"/>
          <a:cs typeface="+mn-cs"/>
        </a:defRPr>
      </a:lvl8pPr>
      <a:lvl9pPr marL="1873885" algn="l" defTabSz="467995" rtl="0" eaLnBrk="1" latinLnBrk="0" hangingPunct="1">
        <a:defRPr sz="9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Figure 5(B)"/>
          <p:cNvPicPr>
            <a:picLocks noChangeAspect="1"/>
          </p:cNvPicPr>
          <p:nvPr/>
        </p:nvPicPr>
        <p:blipFill>
          <a:blip r:embed="rId1"/>
          <a:srcRect l="10516" t="5315" r="27571" b="11536"/>
          <a:stretch>
            <a:fillRect/>
          </a:stretch>
        </p:blipFill>
        <p:spPr>
          <a:xfrm>
            <a:off x="176555" y="2082270"/>
            <a:ext cx="4402405" cy="2746800"/>
          </a:xfrm>
          <a:prstGeom prst="rect">
            <a:avLst/>
          </a:prstGeom>
        </p:spPr>
      </p:pic>
      <p:pic>
        <p:nvPicPr>
          <p:cNvPr id="2" name="图片 1" descr="Figure 5(A)"/>
          <p:cNvPicPr>
            <a:picLocks noChangeAspect="1"/>
          </p:cNvPicPr>
          <p:nvPr/>
        </p:nvPicPr>
        <p:blipFill>
          <a:blip r:embed="rId2"/>
          <a:srcRect l="10543" t="4523" r="27924" b="9002"/>
          <a:stretch>
            <a:fillRect/>
          </a:stretch>
        </p:blipFill>
        <p:spPr>
          <a:xfrm>
            <a:off x="181635" y="100435"/>
            <a:ext cx="4437323" cy="1908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97155" y="4859020"/>
            <a:ext cx="4478655" cy="1023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7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Fig. 5. Distribution curves for weight and height residuals.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(A) Distribution curves for height residual. (B) 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Distribution curves for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weight residual. To elucidate age-dependent patterns, the weight residuals were categorized into three age groups: Age &lt; 25 years (top two 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panels)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25 ≤ Age &lt; 50 years (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middle two panels)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and Age ≥ 50 years 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(bott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om two panels)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. To prevent predicted weight approaching infinity as height nears the theoretical upper limit (1/b), an exclusion criterion was applied to omit data points with weight residuals falling outside the biologically plausible range of ±100 kg. The 5th and 95th percentile positions are marked to illustrate symmetry characteristics. 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weight and height residuals (Hr-Hp, Wr-Wp) are defined as the differences between the observed values and the constraint-model-predicted values.</a:t>
            </a:r>
            <a:endParaRPr lang="en-US" altLang="zh-CN" sz="7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87243" y="-3333"/>
            <a:ext cx="136968" cy="357249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A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7243" y="1888849"/>
            <a:ext cx="136968" cy="357249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6.04847722091074,&quot;left&quot;:1.160594684270424,&quot;top&quot;:-39.1702698234498,&quot;width&quot;:391.95270640215534}"/>
</p:tagLst>
</file>

<file path=ppt/tags/tag2.xml><?xml version="1.0" encoding="utf-8"?>
<p:tagLst xmlns:p="http://schemas.openxmlformats.org/presentationml/2006/main">
  <p:tag name="KSO_WM_DIAGRAM_VIRTUALLY_FRAME" val="{&quot;height&quot;:346.04847722091074,&quot;left&quot;:1.160594684270424,&quot;top&quot;:-39.1702698234498,&quot;width&quot;:391.95270640215534}"/>
</p:tagLst>
</file>

<file path=ppt/tags/tag3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840</Words>
  <Application>WPS 演示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177</cp:revision>
  <dcterms:created xsi:type="dcterms:W3CDTF">2023-08-09T12:44:00Z</dcterms:created>
  <dcterms:modified xsi:type="dcterms:W3CDTF">2026-06-05T10:31:07Z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2052-12.1.0.26895</vt:lpwstr>
  </property>
</Properties>
</file>