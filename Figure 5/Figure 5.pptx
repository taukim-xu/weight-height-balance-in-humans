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3599815" cy="5759450"/>
  <p:notesSz cx="6858000" cy="9144000"/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gs" Target="tags/tag3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451334" y="945223"/>
            <a:ext cx="2707997" cy="2010772"/>
          </a:xfrm>
        </p:spPr>
        <p:txBody>
          <a:bodyPr anchor="b"/>
          <a:lstStyle>
            <a:lvl1pPr algn="ctr">
              <a:defRPr sz="237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451334" y="3033537"/>
            <a:ext cx="2707997" cy="1394436"/>
          </a:xfrm>
        </p:spPr>
        <p:txBody>
          <a:bodyPr/>
          <a:lstStyle>
            <a:lvl1pPr marL="0" indent="0" algn="ctr">
              <a:buNone/>
              <a:defRPr sz="945"/>
            </a:lvl1pPr>
            <a:lvl2pPr marL="180340" indent="0" algn="ctr">
              <a:buNone/>
              <a:defRPr sz="790"/>
            </a:lvl2pPr>
            <a:lvl3pPr marL="360045" indent="0" algn="ctr">
              <a:buNone/>
              <a:defRPr sz="715"/>
            </a:lvl3pPr>
            <a:lvl4pPr marL="540385" indent="0" algn="ctr">
              <a:buNone/>
              <a:defRPr sz="630"/>
            </a:lvl4pPr>
            <a:lvl5pPr marL="721360" indent="0" algn="ctr">
              <a:buNone/>
              <a:defRPr sz="630"/>
            </a:lvl5pPr>
            <a:lvl6pPr marL="901700" indent="0" algn="ctr">
              <a:buNone/>
              <a:defRPr sz="630"/>
            </a:lvl6pPr>
            <a:lvl7pPr marL="1080770" indent="0" algn="ctr">
              <a:buNone/>
              <a:defRPr sz="630"/>
            </a:lvl7pPr>
            <a:lvl8pPr marL="1261745" indent="0" algn="ctr">
              <a:buNone/>
              <a:defRPr sz="630"/>
            </a:lvl8pPr>
            <a:lvl9pPr marL="1441450" indent="0" algn="ctr">
              <a:buNone/>
              <a:defRPr sz="63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6352" y="1439894"/>
            <a:ext cx="3114197" cy="2402498"/>
          </a:xfrm>
        </p:spPr>
        <p:txBody>
          <a:bodyPr anchor="b"/>
          <a:lstStyle>
            <a:lvl1pPr>
              <a:defRPr sz="237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46352" y="3865119"/>
            <a:ext cx="3114197" cy="1263414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1pPr>
            <a:lvl2pPr marL="180340" indent="0">
              <a:buNone/>
              <a:defRPr sz="790">
                <a:solidFill>
                  <a:schemeClr val="tx1">
                    <a:tint val="75000"/>
                  </a:schemeClr>
                </a:solidFill>
              </a:defRPr>
            </a:lvl2pPr>
            <a:lvl3pPr marL="360045" indent="0">
              <a:buNone/>
              <a:defRPr sz="715">
                <a:solidFill>
                  <a:schemeClr val="tx1">
                    <a:tint val="75000"/>
                  </a:schemeClr>
                </a:solidFill>
              </a:defRPr>
            </a:lvl3pPr>
            <a:lvl4pPr marL="540385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4pPr>
            <a:lvl5pPr marL="72136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5pPr>
            <a:lvl6pPr marL="90170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6pPr>
            <a:lvl7pPr marL="108077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7pPr>
            <a:lvl8pPr marL="1261745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8pPr>
            <a:lvl9pPr marL="144145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248234" y="1537491"/>
            <a:ext cx="1534534" cy="366457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827898" y="1537491"/>
            <a:ext cx="1534534" cy="366457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8705" y="307494"/>
            <a:ext cx="3114197" cy="1116352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48705" y="1415830"/>
            <a:ext cx="1527481" cy="693876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340" indent="0">
              <a:buNone/>
              <a:defRPr sz="790" b="1"/>
            </a:lvl2pPr>
            <a:lvl3pPr marL="360045" indent="0">
              <a:buNone/>
              <a:defRPr sz="715" b="1"/>
            </a:lvl3pPr>
            <a:lvl4pPr marL="540385" indent="0">
              <a:buNone/>
              <a:defRPr sz="630" b="1"/>
            </a:lvl4pPr>
            <a:lvl5pPr marL="721360" indent="0">
              <a:buNone/>
              <a:defRPr sz="630" b="1"/>
            </a:lvl5pPr>
            <a:lvl6pPr marL="901700" indent="0">
              <a:buNone/>
              <a:defRPr sz="630" b="1"/>
            </a:lvl6pPr>
            <a:lvl7pPr marL="1080770" indent="0">
              <a:buNone/>
              <a:defRPr sz="630" b="1"/>
            </a:lvl7pPr>
            <a:lvl8pPr marL="1261745" indent="0">
              <a:buNone/>
              <a:defRPr sz="630" b="1"/>
            </a:lvl8pPr>
            <a:lvl9pPr marL="1441450" indent="0">
              <a:buNone/>
              <a:defRPr sz="63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48705" y="2109704"/>
            <a:ext cx="1527481" cy="3103061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1827898" y="1415830"/>
            <a:ext cx="1535002" cy="693876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340" indent="0">
              <a:buNone/>
              <a:defRPr sz="790" b="1"/>
            </a:lvl2pPr>
            <a:lvl3pPr marL="360045" indent="0">
              <a:buNone/>
              <a:defRPr sz="715" b="1"/>
            </a:lvl3pPr>
            <a:lvl4pPr marL="540385" indent="0">
              <a:buNone/>
              <a:defRPr sz="630" b="1"/>
            </a:lvl4pPr>
            <a:lvl5pPr marL="721360" indent="0">
              <a:buNone/>
              <a:defRPr sz="630" b="1"/>
            </a:lvl5pPr>
            <a:lvl6pPr marL="901700" indent="0">
              <a:buNone/>
              <a:defRPr sz="630" b="1"/>
            </a:lvl6pPr>
            <a:lvl7pPr marL="1080770" indent="0">
              <a:buNone/>
              <a:defRPr sz="630" b="1"/>
            </a:lvl7pPr>
            <a:lvl8pPr marL="1261745" indent="0">
              <a:buNone/>
              <a:defRPr sz="630" b="1"/>
            </a:lvl8pPr>
            <a:lvl9pPr marL="1441450" indent="0">
              <a:buNone/>
              <a:defRPr sz="63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1827898" y="2109704"/>
            <a:ext cx="1535002" cy="3103061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8705" y="385042"/>
            <a:ext cx="1164534" cy="134764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535002" y="831584"/>
            <a:ext cx="1827898" cy="4104433"/>
          </a:xfrm>
        </p:spPr>
        <p:txBody>
          <a:bodyPr/>
          <a:lstStyle>
            <a:lvl1pPr>
              <a:defRPr sz="1260"/>
            </a:lvl1pPr>
            <a:lvl2pPr>
              <a:defRPr sz="1110"/>
            </a:lvl2pPr>
            <a:lvl3pPr>
              <a:defRPr sz="945"/>
            </a:lvl3pPr>
            <a:lvl4pPr>
              <a:defRPr sz="790"/>
            </a:lvl4pPr>
            <a:lvl5pPr>
              <a:defRPr sz="790"/>
            </a:lvl5pPr>
            <a:lvl6pPr>
              <a:defRPr sz="790"/>
            </a:lvl6pPr>
            <a:lvl7pPr>
              <a:defRPr sz="790"/>
            </a:lvl7pPr>
            <a:lvl8pPr>
              <a:defRPr sz="790"/>
            </a:lvl8pPr>
            <a:lvl9pPr>
              <a:defRPr sz="79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48705" y="1732684"/>
            <a:ext cx="1164534" cy="3210016"/>
          </a:xfrm>
        </p:spPr>
        <p:txBody>
          <a:bodyPr/>
          <a:lstStyle>
            <a:lvl1pPr marL="0" indent="0">
              <a:buNone/>
              <a:defRPr sz="630"/>
            </a:lvl1pPr>
            <a:lvl2pPr marL="180340" indent="0">
              <a:buNone/>
              <a:defRPr sz="555"/>
            </a:lvl2pPr>
            <a:lvl3pPr marL="360045" indent="0">
              <a:buNone/>
              <a:defRPr sz="475"/>
            </a:lvl3pPr>
            <a:lvl4pPr marL="540385" indent="0">
              <a:buNone/>
              <a:defRPr sz="400"/>
            </a:lvl4pPr>
            <a:lvl5pPr marL="721360" indent="0">
              <a:buNone/>
              <a:defRPr sz="400"/>
            </a:lvl5pPr>
            <a:lvl6pPr marL="901700" indent="0">
              <a:buNone/>
              <a:defRPr sz="400"/>
            </a:lvl6pPr>
            <a:lvl7pPr marL="1080770" indent="0">
              <a:buNone/>
              <a:defRPr sz="400"/>
            </a:lvl7pPr>
            <a:lvl8pPr marL="1261745" indent="0">
              <a:buNone/>
              <a:defRPr sz="400"/>
            </a:lvl8pPr>
            <a:lvl9pPr marL="1441450" indent="0">
              <a:buNone/>
              <a:defRPr sz="4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8705" y="385042"/>
            <a:ext cx="1164534" cy="134764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535002" y="831584"/>
            <a:ext cx="1827898" cy="4104433"/>
          </a:xfrm>
        </p:spPr>
        <p:txBody>
          <a:bodyPr/>
          <a:lstStyle>
            <a:lvl1pPr marL="0" indent="0">
              <a:buNone/>
              <a:defRPr sz="1260"/>
            </a:lvl1pPr>
            <a:lvl2pPr marL="180340" indent="0">
              <a:buNone/>
              <a:defRPr sz="1110"/>
            </a:lvl2pPr>
            <a:lvl3pPr marL="360045" indent="0">
              <a:buNone/>
              <a:defRPr sz="945"/>
            </a:lvl3pPr>
            <a:lvl4pPr marL="540385" indent="0">
              <a:buNone/>
              <a:defRPr sz="790"/>
            </a:lvl4pPr>
            <a:lvl5pPr marL="721360" indent="0">
              <a:buNone/>
              <a:defRPr sz="790"/>
            </a:lvl5pPr>
            <a:lvl6pPr marL="901700" indent="0">
              <a:buNone/>
              <a:defRPr sz="790"/>
            </a:lvl6pPr>
            <a:lvl7pPr marL="1080770" indent="0">
              <a:buNone/>
              <a:defRPr sz="790"/>
            </a:lvl7pPr>
            <a:lvl8pPr marL="1261745" indent="0">
              <a:buNone/>
              <a:defRPr sz="790"/>
            </a:lvl8pPr>
            <a:lvl9pPr marL="1441450" indent="0">
              <a:buNone/>
              <a:defRPr sz="79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48705" y="1732684"/>
            <a:ext cx="1164534" cy="3210016"/>
          </a:xfrm>
        </p:spPr>
        <p:txBody>
          <a:bodyPr/>
          <a:lstStyle>
            <a:lvl1pPr marL="0" indent="0">
              <a:buNone/>
              <a:defRPr sz="630"/>
            </a:lvl1pPr>
            <a:lvl2pPr marL="180340" indent="0">
              <a:buNone/>
              <a:defRPr sz="555"/>
            </a:lvl2pPr>
            <a:lvl3pPr marL="360045" indent="0">
              <a:buNone/>
              <a:defRPr sz="475"/>
            </a:lvl3pPr>
            <a:lvl4pPr marL="540385" indent="0">
              <a:buNone/>
              <a:defRPr sz="400"/>
            </a:lvl4pPr>
            <a:lvl5pPr marL="721360" indent="0">
              <a:buNone/>
              <a:defRPr sz="400"/>
            </a:lvl5pPr>
            <a:lvl6pPr marL="901700" indent="0">
              <a:buNone/>
              <a:defRPr sz="400"/>
            </a:lvl6pPr>
            <a:lvl7pPr marL="1080770" indent="0">
              <a:buNone/>
              <a:defRPr sz="400"/>
            </a:lvl7pPr>
            <a:lvl8pPr marL="1261745" indent="0">
              <a:buNone/>
              <a:defRPr sz="400"/>
            </a:lvl8pPr>
            <a:lvl9pPr marL="1441450" indent="0">
              <a:buNone/>
              <a:defRPr sz="4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2583881" y="307494"/>
            <a:ext cx="778548" cy="4894571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48234" y="307494"/>
            <a:ext cx="2290515" cy="4894571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248234" y="307494"/>
            <a:ext cx="3114197" cy="11163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48234" y="1537491"/>
            <a:ext cx="3114197" cy="36645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248234" y="5353142"/>
            <a:ext cx="812399" cy="30749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196030" y="5353142"/>
            <a:ext cx="1218600" cy="30749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2550032" y="5353142"/>
            <a:ext cx="812399" cy="30749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60045" rtl="0" eaLnBrk="1" latinLnBrk="0" hangingPunct="1">
        <a:lnSpc>
          <a:spcPct val="90000"/>
        </a:lnSpc>
        <a:spcBef>
          <a:spcPct val="0"/>
        </a:spcBef>
        <a:buNone/>
        <a:defRPr sz="17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805" indent="-90805" algn="l" defTabSz="360045" rtl="0" eaLnBrk="1" latinLnBrk="0" hangingPunct="1">
        <a:lnSpc>
          <a:spcPct val="90000"/>
        </a:lnSpc>
        <a:spcBef>
          <a:spcPct val="78000"/>
        </a:spcBef>
        <a:buFont typeface="Arial" panose="020B0604020202020204" pitchFamily="34" charset="0"/>
        <a:buChar char="•"/>
        <a:defRPr sz="1110" kern="1200">
          <a:solidFill>
            <a:schemeClr val="tx1"/>
          </a:solidFill>
          <a:latin typeface="+mn-lt"/>
          <a:ea typeface="+mn-ea"/>
          <a:cs typeface="+mn-cs"/>
        </a:defRPr>
      </a:lvl1pPr>
      <a:lvl2pPr marL="270510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1485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90" kern="1200">
          <a:solidFill>
            <a:schemeClr val="tx1"/>
          </a:solidFill>
          <a:latin typeface="+mn-lt"/>
          <a:ea typeface="+mn-ea"/>
          <a:cs typeface="+mn-cs"/>
        </a:defRPr>
      </a:lvl3pPr>
      <a:lvl4pPr marL="631190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4pPr>
      <a:lvl5pPr marL="811530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5pPr>
      <a:lvl6pPr marL="989965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6pPr>
      <a:lvl7pPr marL="1170940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7pPr>
      <a:lvl8pPr marL="1351915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8pPr>
      <a:lvl9pPr marL="1532890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1pPr>
      <a:lvl2pPr marL="18034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2pPr>
      <a:lvl3pPr marL="360045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3pPr>
      <a:lvl4pPr marL="540385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4pPr>
      <a:lvl5pPr marL="72136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5pPr>
      <a:lvl6pPr marL="90170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6pPr>
      <a:lvl7pPr marL="108077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7pPr>
      <a:lvl8pPr marL="1261745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8pPr>
      <a:lvl9pPr marL="144145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2.xml"/><Relationship Id="rId3" Type="http://schemas.openxmlformats.org/officeDocument/2006/relationships/tags" Target="../tags/tag1.xml"/><Relationship Id="rId2" Type="http://schemas.openxmlformats.org/officeDocument/2006/relationships/image" Target="../media/image2.emf"/><Relationship Id="rId1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Figure 6(b)"/>
          <p:cNvPicPr>
            <a:picLocks noChangeAspect="1"/>
          </p:cNvPicPr>
          <p:nvPr/>
        </p:nvPicPr>
        <p:blipFill>
          <a:blip r:embed="rId1"/>
          <a:srcRect l="9067" t="5541" r="14906" b="13587"/>
          <a:stretch>
            <a:fillRect/>
          </a:stretch>
        </p:blipFill>
        <p:spPr>
          <a:xfrm>
            <a:off x="123308" y="1224589"/>
            <a:ext cx="3420704" cy="2664339"/>
          </a:xfrm>
          <a:prstGeom prst="rect">
            <a:avLst/>
          </a:prstGeom>
        </p:spPr>
      </p:pic>
      <p:pic>
        <p:nvPicPr>
          <p:cNvPr id="6" name="图片 5" descr="Figure 6(a)"/>
          <p:cNvPicPr>
            <a:picLocks noChangeAspect="1"/>
          </p:cNvPicPr>
          <p:nvPr/>
        </p:nvPicPr>
        <p:blipFill>
          <a:blip r:embed="rId2"/>
          <a:srcRect l="9190" t="249" r="15400" b="914"/>
          <a:stretch>
            <a:fillRect/>
          </a:stretch>
        </p:blipFill>
        <p:spPr>
          <a:xfrm>
            <a:off x="127945" y="184578"/>
            <a:ext cx="3420880" cy="951445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16511" y="3895739"/>
            <a:ext cx="3506015" cy="1545034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7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Fig. 5. Distribution curves for weight and height residuals.</a:t>
            </a:r>
            <a:r>
              <a:rPr lang="en-US" altLang="zh-CN" sz="7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(A) Comparison of height residual distributions across continents. (B) Comparison of weight residual distributions across continents and age groups. To elucidate age-dependent patterns, the weight residuals were aggregated by continent (top panels: Europe; middle panels: Americas; bottom panels: Asia) and further categorized into three age groups (Age &lt; 25 years, 25 ≤ Age &lt; 50 years, and Age ≥ 50 years). To address the issue of predicted weight approaching infinity as height nears the theoretical upper limit (1/b), an exclusion criterion was applied to omit data points with weight residuals falling outside the biologically plausible range of -100 Kg to 100 Kg. For all distribution curves, the 5th and 95th percentile positions are marked to illustrate symmetry characteristics. The weight and height residuals (Hr-Hp, Wr-Wp) are defined as the differences between the observed values and the constraint-model-predicted values.</a:t>
            </a:r>
            <a:endParaRPr lang="en-US" altLang="zh-CN" sz="7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6" name="文本框 25"/>
          <p:cNvSpPr txBox="1"/>
          <p:nvPr>
            <p:custDataLst>
              <p:tags r:id="rId3"/>
            </p:custDataLst>
          </p:nvPr>
        </p:nvSpPr>
        <p:spPr>
          <a:xfrm>
            <a:off x="34713" y="81420"/>
            <a:ext cx="136968" cy="357249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000" b="1">
                <a:latin typeface="Times New Roman" panose="02020603050405020304" charset="0"/>
                <a:cs typeface="Times New Roman" panose="02020603050405020304" charset="0"/>
              </a:rPr>
              <a:t>A</a:t>
            </a:r>
            <a:endParaRPr lang="en-US" altLang="zh-CN" sz="10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文本框 3"/>
          <p:cNvSpPr txBox="1"/>
          <p:nvPr>
            <p:custDataLst>
              <p:tags r:id="rId4"/>
            </p:custDataLst>
          </p:nvPr>
        </p:nvSpPr>
        <p:spPr>
          <a:xfrm>
            <a:off x="34713" y="1116352"/>
            <a:ext cx="136968" cy="357249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000" b="1">
                <a:latin typeface="Times New Roman" panose="02020603050405020304" charset="0"/>
                <a:cs typeface="Times New Roman" panose="02020603050405020304" charset="0"/>
              </a:rPr>
              <a:t>B</a:t>
            </a:r>
            <a:endParaRPr lang="en-US" altLang="zh-CN" sz="1000" b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6.04847722091074,&quot;left&quot;:1.160594684270424,&quot;top&quot;:-39.1702698234498,&quot;width&quot;:391.95270640215534}"/>
</p:tagLst>
</file>

<file path=ppt/tags/tag2.xml><?xml version="1.0" encoding="utf-8"?>
<p:tagLst xmlns:p="http://schemas.openxmlformats.org/presentationml/2006/main">
  <p:tag name="KSO_WM_DIAGRAM_VIRTUALLY_FRAME" val="{&quot;height&quot;:346.04847722091074,&quot;left&quot;:1.160594684270424,&quot;top&quot;:-39.1702698234498,&quot;width&quot;:391.95270640215534}"/>
</p:tagLst>
</file>

<file path=ppt/tags/tag3.xml><?xml version="1.0" encoding="utf-8"?>
<p:tagLst xmlns:p="http://schemas.openxmlformats.org/presentationml/2006/main">
  <p:tag name="commondata" val="eyJoZGlkIjoiMWU4NTYwNDRjODQ2YTFjZWMxNzg1ZTdjYzJmZWI4OG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998</Words>
  <Application>WPS 演示</Application>
  <PresentationFormat>宽屏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taojin xu</dc:creator>
  <cp:lastModifiedBy>Taukim Xu-じょ　とうきん</cp:lastModifiedBy>
  <cp:revision>168</cp:revision>
  <dcterms:created xsi:type="dcterms:W3CDTF">2023-08-09T12:44:00Z</dcterms:created>
  <dcterms:modified xsi:type="dcterms:W3CDTF">2026-03-26T12:49:34Z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2052-12.1.0.25225</vt:lpwstr>
  </property>
</Properties>
</file>