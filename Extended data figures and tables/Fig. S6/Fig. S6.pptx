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1879580" cy="575945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46459" y="1143000"/>
            <a:ext cx="636508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85828" y="943613"/>
            <a:ext cx="8914968" cy="2007347"/>
          </a:xfrm>
        </p:spPr>
        <p:txBody>
          <a:bodyPr anchor="b"/>
          <a:lstStyle>
            <a:lvl1pPr algn="ctr">
              <a:defRPr sz="505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85828" y="3028372"/>
            <a:ext cx="8914968" cy="1392063"/>
          </a:xfrm>
        </p:spPr>
        <p:txBody>
          <a:bodyPr/>
          <a:lstStyle>
            <a:lvl1pPr marL="0" indent="0" algn="ctr">
              <a:buNone/>
              <a:defRPr sz="2025"/>
            </a:lvl1pPr>
            <a:lvl2pPr marL="384175" indent="0" algn="ctr">
              <a:buNone/>
              <a:defRPr sz="1685"/>
            </a:lvl2pPr>
            <a:lvl3pPr marL="767715" indent="0" algn="ctr">
              <a:buNone/>
              <a:defRPr sz="1505"/>
            </a:lvl3pPr>
            <a:lvl4pPr marL="1151890" indent="0" algn="ctr">
              <a:buNone/>
              <a:defRPr sz="1345"/>
            </a:lvl4pPr>
            <a:lvl5pPr marL="1538605" indent="0" algn="ctr">
              <a:buNone/>
              <a:defRPr sz="1345"/>
            </a:lvl5pPr>
            <a:lvl6pPr marL="1921510" indent="0" algn="ctr">
              <a:buNone/>
              <a:defRPr sz="1345"/>
            </a:lvl6pPr>
            <a:lvl7pPr marL="2305685" indent="0" algn="ctr">
              <a:buNone/>
              <a:defRPr sz="1345"/>
            </a:lvl7pPr>
            <a:lvl8pPr marL="2691765" indent="0" algn="ctr">
              <a:buNone/>
              <a:defRPr sz="1345"/>
            </a:lvl8pPr>
            <a:lvl9pPr marL="3073400" indent="0" algn="ctr">
              <a:buNone/>
              <a:defRPr sz="1345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1015" y="1437442"/>
            <a:ext cx="10252211" cy="2398406"/>
          </a:xfrm>
        </p:spPr>
        <p:txBody>
          <a:bodyPr anchor="b"/>
          <a:lstStyle>
            <a:lvl1pPr>
              <a:defRPr sz="505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1015" y="3858540"/>
            <a:ext cx="10252211" cy="1261265"/>
          </a:xfrm>
        </p:spPr>
        <p:txBody>
          <a:bodyPr/>
          <a:lstStyle>
            <a:lvl1pPr marL="0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1pPr>
            <a:lvl2pPr marL="384175" indent="0">
              <a:buNone/>
              <a:defRPr sz="1685">
                <a:solidFill>
                  <a:schemeClr val="tx1">
                    <a:tint val="75000"/>
                  </a:schemeClr>
                </a:solidFill>
              </a:defRPr>
            </a:lvl2pPr>
            <a:lvl3pPr marL="767715" indent="0">
              <a:buNone/>
              <a:defRPr sz="1505">
                <a:solidFill>
                  <a:schemeClr val="tx1">
                    <a:tint val="75000"/>
                  </a:schemeClr>
                </a:solidFill>
              </a:defRPr>
            </a:lvl3pPr>
            <a:lvl4pPr marL="1151890" indent="0">
              <a:buNone/>
              <a:defRPr sz="1345">
                <a:solidFill>
                  <a:schemeClr val="tx1">
                    <a:tint val="75000"/>
                  </a:schemeClr>
                </a:solidFill>
              </a:defRPr>
            </a:lvl4pPr>
            <a:lvl5pPr marL="1538605" indent="0">
              <a:buNone/>
              <a:defRPr sz="1345">
                <a:solidFill>
                  <a:schemeClr val="tx1">
                    <a:tint val="75000"/>
                  </a:schemeClr>
                </a:solidFill>
              </a:defRPr>
            </a:lvl5pPr>
            <a:lvl6pPr marL="1921510" indent="0">
              <a:buNone/>
              <a:defRPr sz="1345">
                <a:solidFill>
                  <a:schemeClr val="tx1">
                    <a:tint val="75000"/>
                  </a:schemeClr>
                </a:solidFill>
              </a:defRPr>
            </a:lvl6pPr>
            <a:lvl7pPr marL="2305685" indent="0">
              <a:buNone/>
              <a:defRPr sz="1345">
                <a:solidFill>
                  <a:schemeClr val="tx1">
                    <a:tint val="75000"/>
                  </a:schemeClr>
                </a:solidFill>
              </a:defRPr>
            </a:lvl7pPr>
            <a:lvl8pPr marL="2691765" indent="0">
              <a:buNone/>
              <a:defRPr sz="1345">
                <a:solidFill>
                  <a:schemeClr val="tx1">
                    <a:tint val="75000"/>
                  </a:schemeClr>
                </a:solidFill>
              </a:defRPr>
            </a:lvl8pPr>
            <a:lvl9pPr marL="3073400" indent="0">
              <a:buNone/>
              <a:defRPr sz="13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7204" y="1534874"/>
            <a:ext cx="5051815" cy="365834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17603" y="1534874"/>
            <a:ext cx="5051815" cy="365834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8752" y="306975"/>
            <a:ext cx="10252211" cy="111445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8752" y="1413419"/>
            <a:ext cx="5028597" cy="692695"/>
          </a:xfrm>
        </p:spPr>
        <p:txBody>
          <a:bodyPr anchor="b"/>
          <a:lstStyle>
            <a:lvl1pPr marL="0" indent="0">
              <a:buNone/>
              <a:defRPr sz="2025" b="1"/>
            </a:lvl1pPr>
            <a:lvl2pPr marL="384175" indent="0">
              <a:buNone/>
              <a:defRPr sz="1685" b="1"/>
            </a:lvl2pPr>
            <a:lvl3pPr marL="767715" indent="0">
              <a:buNone/>
              <a:defRPr sz="1505" b="1"/>
            </a:lvl3pPr>
            <a:lvl4pPr marL="1151890" indent="0">
              <a:buNone/>
              <a:defRPr sz="1345" b="1"/>
            </a:lvl4pPr>
            <a:lvl5pPr marL="1538605" indent="0">
              <a:buNone/>
              <a:defRPr sz="1345" b="1"/>
            </a:lvl5pPr>
            <a:lvl6pPr marL="1921510" indent="0">
              <a:buNone/>
              <a:defRPr sz="1345" b="1"/>
            </a:lvl6pPr>
            <a:lvl7pPr marL="2305685" indent="0">
              <a:buNone/>
              <a:defRPr sz="1345" b="1"/>
            </a:lvl7pPr>
            <a:lvl8pPr marL="2691765" indent="0">
              <a:buNone/>
              <a:defRPr sz="1345" b="1"/>
            </a:lvl8pPr>
            <a:lvl9pPr marL="3073400" indent="0">
              <a:buNone/>
              <a:defRPr sz="134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18752" y="2106114"/>
            <a:ext cx="5028597" cy="309777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017603" y="1413419"/>
            <a:ext cx="5053364" cy="692695"/>
          </a:xfrm>
        </p:spPr>
        <p:txBody>
          <a:bodyPr anchor="b"/>
          <a:lstStyle>
            <a:lvl1pPr marL="0" indent="0">
              <a:buNone/>
              <a:defRPr sz="2025" b="1"/>
            </a:lvl1pPr>
            <a:lvl2pPr marL="384175" indent="0">
              <a:buNone/>
              <a:defRPr sz="1685" b="1"/>
            </a:lvl2pPr>
            <a:lvl3pPr marL="767715" indent="0">
              <a:buNone/>
              <a:defRPr sz="1505" b="1"/>
            </a:lvl3pPr>
            <a:lvl4pPr marL="1151890" indent="0">
              <a:buNone/>
              <a:defRPr sz="1345" b="1"/>
            </a:lvl4pPr>
            <a:lvl5pPr marL="1538605" indent="0">
              <a:buNone/>
              <a:defRPr sz="1345" b="1"/>
            </a:lvl5pPr>
            <a:lvl6pPr marL="1921510" indent="0">
              <a:buNone/>
              <a:defRPr sz="1345" b="1"/>
            </a:lvl6pPr>
            <a:lvl7pPr marL="2305685" indent="0">
              <a:buNone/>
              <a:defRPr sz="1345" b="1"/>
            </a:lvl7pPr>
            <a:lvl8pPr marL="2691765" indent="0">
              <a:buNone/>
              <a:defRPr sz="1345" b="1"/>
            </a:lvl8pPr>
            <a:lvl9pPr marL="3073400" indent="0">
              <a:buNone/>
              <a:defRPr sz="134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017603" y="2106114"/>
            <a:ext cx="5053364" cy="309777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8752" y="384386"/>
            <a:ext cx="3833745" cy="1345350"/>
          </a:xfrm>
        </p:spPr>
        <p:txBody>
          <a:bodyPr anchor="b"/>
          <a:lstStyle>
            <a:lvl1pPr>
              <a:defRPr sz="268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53364" y="830166"/>
            <a:ext cx="6017603" cy="4097445"/>
          </a:xfrm>
        </p:spPr>
        <p:txBody>
          <a:bodyPr/>
          <a:lstStyle>
            <a:lvl1pPr>
              <a:defRPr sz="2685"/>
            </a:lvl1pPr>
            <a:lvl2pPr>
              <a:defRPr sz="2350"/>
            </a:lvl2pPr>
            <a:lvl3pPr>
              <a:defRPr sz="2025"/>
            </a:lvl3pPr>
            <a:lvl4pPr>
              <a:defRPr sz="1685"/>
            </a:lvl4pPr>
            <a:lvl5pPr>
              <a:defRPr sz="1685"/>
            </a:lvl5pPr>
            <a:lvl6pPr>
              <a:defRPr sz="1685"/>
            </a:lvl6pPr>
            <a:lvl7pPr>
              <a:defRPr sz="1685"/>
            </a:lvl7pPr>
            <a:lvl8pPr>
              <a:defRPr sz="1685"/>
            </a:lvl8pPr>
            <a:lvl9pPr>
              <a:defRPr sz="168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18752" y="1729736"/>
            <a:ext cx="3833745" cy="3204550"/>
          </a:xfrm>
        </p:spPr>
        <p:txBody>
          <a:bodyPr/>
          <a:lstStyle>
            <a:lvl1pPr marL="0" indent="0">
              <a:buNone/>
              <a:defRPr sz="1345"/>
            </a:lvl1pPr>
            <a:lvl2pPr marL="384175" indent="0">
              <a:buNone/>
              <a:defRPr sz="1170"/>
            </a:lvl2pPr>
            <a:lvl3pPr marL="767715" indent="0">
              <a:buNone/>
              <a:defRPr sz="1005"/>
            </a:lvl3pPr>
            <a:lvl4pPr marL="1151890" indent="0">
              <a:buNone/>
              <a:defRPr sz="835"/>
            </a:lvl4pPr>
            <a:lvl5pPr marL="1538605" indent="0">
              <a:buNone/>
              <a:defRPr sz="835"/>
            </a:lvl5pPr>
            <a:lvl6pPr marL="1921510" indent="0">
              <a:buNone/>
              <a:defRPr sz="835"/>
            </a:lvl6pPr>
            <a:lvl7pPr marL="2305685" indent="0">
              <a:buNone/>
              <a:defRPr sz="835"/>
            </a:lvl7pPr>
            <a:lvl8pPr marL="2691765" indent="0">
              <a:buNone/>
              <a:defRPr sz="835"/>
            </a:lvl8pPr>
            <a:lvl9pPr marL="3073400" indent="0">
              <a:buNone/>
              <a:defRPr sz="83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8752" y="384386"/>
            <a:ext cx="3833745" cy="1345350"/>
          </a:xfrm>
        </p:spPr>
        <p:txBody>
          <a:bodyPr anchor="b"/>
          <a:lstStyle>
            <a:lvl1pPr>
              <a:defRPr sz="268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053364" y="830166"/>
            <a:ext cx="6017603" cy="4097445"/>
          </a:xfrm>
        </p:spPr>
        <p:txBody>
          <a:bodyPr/>
          <a:lstStyle>
            <a:lvl1pPr marL="0" indent="0">
              <a:buNone/>
              <a:defRPr sz="2685"/>
            </a:lvl1pPr>
            <a:lvl2pPr marL="384175" indent="0">
              <a:buNone/>
              <a:defRPr sz="2350"/>
            </a:lvl2pPr>
            <a:lvl3pPr marL="767715" indent="0">
              <a:buNone/>
              <a:defRPr sz="2025"/>
            </a:lvl3pPr>
            <a:lvl4pPr marL="1151890" indent="0">
              <a:buNone/>
              <a:defRPr sz="1685"/>
            </a:lvl4pPr>
            <a:lvl5pPr marL="1538605" indent="0">
              <a:buNone/>
              <a:defRPr sz="1685"/>
            </a:lvl5pPr>
            <a:lvl6pPr marL="1921510" indent="0">
              <a:buNone/>
              <a:defRPr sz="1685"/>
            </a:lvl6pPr>
            <a:lvl7pPr marL="2305685" indent="0">
              <a:buNone/>
              <a:defRPr sz="1685"/>
            </a:lvl7pPr>
            <a:lvl8pPr marL="2691765" indent="0">
              <a:buNone/>
              <a:defRPr sz="1685"/>
            </a:lvl8pPr>
            <a:lvl9pPr marL="3073400" indent="0">
              <a:buNone/>
              <a:defRPr sz="168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18752" y="1729736"/>
            <a:ext cx="3833745" cy="3204550"/>
          </a:xfrm>
        </p:spPr>
        <p:txBody>
          <a:bodyPr/>
          <a:lstStyle>
            <a:lvl1pPr marL="0" indent="0">
              <a:buNone/>
              <a:defRPr sz="1345"/>
            </a:lvl1pPr>
            <a:lvl2pPr marL="384175" indent="0">
              <a:buNone/>
              <a:defRPr sz="1170"/>
            </a:lvl2pPr>
            <a:lvl3pPr marL="767715" indent="0">
              <a:buNone/>
              <a:defRPr sz="1005"/>
            </a:lvl3pPr>
            <a:lvl4pPr marL="1151890" indent="0">
              <a:buNone/>
              <a:defRPr sz="835"/>
            </a:lvl4pPr>
            <a:lvl5pPr marL="1538605" indent="0">
              <a:buNone/>
              <a:defRPr sz="835"/>
            </a:lvl5pPr>
            <a:lvl6pPr marL="1921510" indent="0">
              <a:buNone/>
              <a:defRPr sz="835"/>
            </a:lvl6pPr>
            <a:lvl7pPr marL="2305685" indent="0">
              <a:buNone/>
              <a:defRPr sz="835"/>
            </a:lvl7pPr>
            <a:lvl8pPr marL="2691765" indent="0">
              <a:buNone/>
              <a:defRPr sz="835"/>
            </a:lvl8pPr>
            <a:lvl9pPr marL="3073400" indent="0">
              <a:buNone/>
              <a:defRPr sz="83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506363" y="306975"/>
            <a:ext cx="2563053" cy="48862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17204" y="306975"/>
            <a:ext cx="7540577" cy="48862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17204" y="306975"/>
            <a:ext cx="10252211" cy="1114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17204" y="1534874"/>
            <a:ext cx="10252211" cy="3658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17204" y="5344030"/>
            <a:ext cx="2674489" cy="306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7446" y="5344030"/>
            <a:ext cx="4011733" cy="306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394927" y="5344030"/>
            <a:ext cx="2674489" cy="306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67715" rtl="0" eaLnBrk="1" latinLnBrk="0" hangingPunct="1">
        <a:lnSpc>
          <a:spcPct val="90000"/>
        </a:lnSpc>
        <a:spcBef>
          <a:spcPct val="0"/>
        </a:spcBef>
        <a:buNone/>
        <a:defRPr sz="37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1135" indent="-191135" algn="l" defTabSz="767715" rtl="0" eaLnBrk="1" latinLnBrk="0" hangingPunct="1">
        <a:lnSpc>
          <a:spcPct val="90000"/>
        </a:lnSpc>
        <a:spcBef>
          <a:spcPts val="835"/>
        </a:spcBef>
        <a:buFont typeface="Arial" panose="020B0604020202020204" pitchFamily="34" charset="0"/>
        <a:buChar char="•"/>
        <a:defRPr sz="2350" kern="1200">
          <a:solidFill>
            <a:schemeClr val="tx1"/>
          </a:solidFill>
          <a:latin typeface="+mn-lt"/>
          <a:ea typeface="+mn-ea"/>
          <a:cs typeface="+mn-cs"/>
        </a:defRPr>
      </a:lvl1pPr>
      <a:lvl2pPr marL="577215" indent="-191135" algn="l" defTabSz="76771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indent="-191135" algn="l" defTabSz="76771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685" kern="1200">
          <a:solidFill>
            <a:schemeClr val="tx1"/>
          </a:solidFill>
          <a:latin typeface="+mn-lt"/>
          <a:ea typeface="+mn-ea"/>
          <a:cs typeface="+mn-cs"/>
        </a:defRPr>
      </a:lvl3pPr>
      <a:lvl4pPr marL="1344930" indent="-191135" algn="l" defTabSz="76771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5" kern="1200">
          <a:solidFill>
            <a:schemeClr val="tx1"/>
          </a:solidFill>
          <a:latin typeface="+mn-lt"/>
          <a:ea typeface="+mn-ea"/>
          <a:cs typeface="+mn-cs"/>
        </a:defRPr>
      </a:lvl4pPr>
      <a:lvl5pPr marL="1728470" indent="-191135" algn="l" defTabSz="76771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5" kern="1200">
          <a:solidFill>
            <a:schemeClr val="tx1"/>
          </a:solidFill>
          <a:latin typeface="+mn-lt"/>
          <a:ea typeface="+mn-ea"/>
          <a:cs typeface="+mn-cs"/>
        </a:defRPr>
      </a:lvl5pPr>
      <a:lvl6pPr marL="2113280" indent="-191135" algn="l" defTabSz="76771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5" kern="1200">
          <a:solidFill>
            <a:schemeClr val="tx1"/>
          </a:solidFill>
          <a:latin typeface="+mn-lt"/>
          <a:ea typeface="+mn-ea"/>
          <a:cs typeface="+mn-cs"/>
        </a:defRPr>
      </a:lvl6pPr>
      <a:lvl7pPr marL="2498090" indent="-191135" algn="l" defTabSz="76771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5" kern="1200">
          <a:solidFill>
            <a:schemeClr val="tx1"/>
          </a:solidFill>
          <a:latin typeface="+mn-lt"/>
          <a:ea typeface="+mn-ea"/>
          <a:cs typeface="+mn-cs"/>
        </a:defRPr>
      </a:lvl7pPr>
      <a:lvl8pPr marL="2880995" indent="-191135" algn="l" defTabSz="76771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5" kern="1200">
          <a:solidFill>
            <a:schemeClr val="tx1"/>
          </a:solidFill>
          <a:latin typeface="+mn-lt"/>
          <a:ea typeface="+mn-ea"/>
          <a:cs typeface="+mn-cs"/>
        </a:defRPr>
      </a:lvl8pPr>
      <a:lvl9pPr marL="3265805" indent="-191135" algn="l" defTabSz="767715" rtl="0" eaLnBrk="1" latinLnBrk="0" hangingPunct="1">
        <a:lnSpc>
          <a:spcPct val="90000"/>
        </a:lnSpc>
        <a:spcBef>
          <a:spcPts val="415"/>
        </a:spcBef>
        <a:buFont typeface="Arial" panose="020B0604020202020204" pitchFamily="34" charset="0"/>
        <a:buChar char="•"/>
        <a:defRPr sz="15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67715" rtl="0" eaLnBrk="1" latinLnBrk="0" hangingPunct="1">
        <a:defRPr sz="1505" kern="1200">
          <a:solidFill>
            <a:schemeClr val="tx1"/>
          </a:solidFill>
          <a:latin typeface="+mn-lt"/>
          <a:ea typeface="+mn-ea"/>
          <a:cs typeface="+mn-cs"/>
        </a:defRPr>
      </a:lvl1pPr>
      <a:lvl2pPr marL="384175" algn="l" defTabSz="767715" rtl="0" eaLnBrk="1" latinLnBrk="0" hangingPunct="1">
        <a:defRPr sz="1505" kern="1200">
          <a:solidFill>
            <a:schemeClr val="tx1"/>
          </a:solidFill>
          <a:latin typeface="+mn-lt"/>
          <a:ea typeface="+mn-ea"/>
          <a:cs typeface="+mn-cs"/>
        </a:defRPr>
      </a:lvl2pPr>
      <a:lvl3pPr marL="767715" algn="l" defTabSz="767715" rtl="0" eaLnBrk="1" latinLnBrk="0" hangingPunct="1">
        <a:defRPr sz="1505" kern="1200">
          <a:solidFill>
            <a:schemeClr val="tx1"/>
          </a:solidFill>
          <a:latin typeface="+mn-lt"/>
          <a:ea typeface="+mn-ea"/>
          <a:cs typeface="+mn-cs"/>
        </a:defRPr>
      </a:lvl3pPr>
      <a:lvl4pPr marL="1151890" algn="l" defTabSz="767715" rtl="0" eaLnBrk="1" latinLnBrk="0" hangingPunct="1">
        <a:defRPr sz="1505" kern="1200">
          <a:solidFill>
            <a:schemeClr val="tx1"/>
          </a:solidFill>
          <a:latin typeface="+mn-lt"/>
          <a:ea typeface="+mn-ea"/>
          <a:cs typeface="+mn-cs"/>
        </a:defRPr>
      </a:lvl4pPr>
      <a:lvl5pPr marL="1538605" algn="l" defTabSz="767715" rtl="0" eaLnBrk="1" latinLnBrk="0" hangingPunct="1">
        <a:defRPr sz="1505" kern="1200">
          <a:solidFill>
            <a:schemeClr val="tx1"/>
          </a:solidFill>
          <a:latin typeface="+mn-lt"/>
          <a:ea typeface="+mn-ea"/>
          <a:cs typeface="+mn-cs"/>
        </a:defRPr>
      </a:lvl5pPr>
      <a:lvl6pPr marL="1921510" algn="l" defTabSz="767715" rtl="0" eaLnBrk="1" latinLnBrk="0" hangingPunct="1">
        <a:defRPr sz="1505" kern="1200">
          <a:solidFill>
            <a:schemeClr val="tx1"/>
          </a:solidFill>
          <a:latin typeface="+mn-lt"/>
          <a:ea typeface="+mn-ea"/>
          <a:cs typeface="+mn-cs"/>
        </a:defRPr>
      </a:lvl6pPr>
      <a:lvl7pPr marL="2305685" algn="l" defTabSz="767715" rtl="0" eaLnBrk="1" latinLnBrk="0" hangingPunct="1">
        <a:defRPr sz="1505" kern="1200">
          <a:solidFill>
            <a:schemeClr val="tx1"/>
          </a:solidFill>
          <a:latin typeface="+mn-lt"/>
          <a:ea typeface="+mn-ea"/>
          <a:cs typeface="+mn-cs"/>
        </a:defRPr>
      </a:lvl7pPr>
      <a:lvl8pPr marL="2691765" algn="l" defTabSz="767715" rtl="0" eaLnBrk="1" latinLnBrk="0" hangingPunct="1">
        <a:defRPr sz="1505" kern="1200">
          <a:solidFill>
            <a:schemeClr val="tx1"/>
          </a:solidFill>
          <a:latin typeface="+mn-lt"/>
          <a:ea typeface="+mn-ea"/>
          <a:cs typeface="+mn-cs"/>
        </a:defRPr>
      </a:lvl8pPr>
      <a:lvl9pPr marL="3073400" algn="l" defTabSz="767715" rtl="0" eaLnBrk="1" latinLnBrk="0" hangingPunct="1">
        <a:defRPr sz="15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59" name="直接箭头连接符 13"/>
          <p:cNvCxnSpPr>
            <a:endCxn id="48" idx="1"/>
          </p:cNvCxnSpPr>
          <p:nvPr/>
        </p:nvCxnSpPr>
        <p:spPr>
          <a:xfrm>
            <a:off x="1033291" y="4845460"/>
            <a:ext cx="543560" cy="0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58" name="直接箭头连接符 13"/>
          <p:cNvCxnSpPr>
            <a:endCxn id="47" idx="1"/>
          </p:cNvCxnSpPr>
          <p:nvPr/>
        </p:nvCxnSpPr>
        <p:spPr>
          <a:xfrm>
            <a:off x="1009161" y="3845970"/>
            <a:ext cx="567690" cy="4445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57" name="直接箭头连接符 13"/>
          <p:cNvCxnSpPr/>
          <p:nvPr/>
        </p:nvCxnSpPr>
        <p:spPr>
          <a:xfrm>
            <a:off x="894226" y="2843940"/>
            <a:ext cx="682625" cy="5715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55" name="直接箭头连接符 13"/>
          <p:cNvCxnSpPr/>
          <p:nvPr/>
        </p:nvCxnSpPr>
        <p:spPr>
          <a:xfrm flipV="1">
            <a:off x="1034561" y="488725"/>
            <a:ext cx="542290" cy="1270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56" name="直接箭头连接符 13"/>
          <p:cNvCxnSpPr/>
          <p:nvPr/>
        </p:nvCxnSpPr>
        <p:spPr>
          <a:xfrm flipV="1">
            <a:off x="1041546" y="1937160"/>
            <a:ext cx="535305" cy="635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25" name="直接箭头连接符 13"/>
          <p:cNvCxnSpPr/>
          <p:nvPr/>
        </p:nvCxnSpPr>
        <p:spPr>
          <a:xfrm>
            <a:off x="3712626" y="488662"/>
            <a:ext cx="344170" cy="0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sp>
        <p:nvSpPr>
          <p:cNvPr id="1073743875" name="文本框 1073743874"/>
          <p:cNvSpPr txBox="1"/>
          <p:nvPr/>
        </p:nvSpPr>
        <p:spPr>
          <a:xfrm>
            <a:off x="166672" y="165066"/>
            <a:ext cx="1082778" cy="5094486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After data identification, access, inclusion and exclusion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altLang="en-US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N = 1,277,484 [48·56% female], aged 1-90 years, from 33 countries)</a:t>
            </a:r>
            <a:endParaRPr lang="zh-CN" altLang="en-US" sz="12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76705" y="172720"/>
            <a:ext cx="2136140" cy="8324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Objective 1: 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Examining life-course trajectories of the linear correlation between weight and weight </a:t>
            </a:r>
            <a:r>
              <a:rPr lang="en-US" altLang="en-US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× height</a:t>
            </a:r>
            <a:endParaRPr lang="en-US" altLang="en-US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25159" y="5411961"/>
            <a:ext cx="64855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Fig. S6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. 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Overview of the data processing pipeline.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057015" y="172561"/>
            <a:ext cx="1584000" cy="6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indent="0" algn="ctr" fontAlgn="auto"/>
            <a:r>
              <a:rPr sz="1200">
                <a:latin typeface="Times New Roman" panose="02020603050405020304" charset="0"/>
                <a:cs typeface="Times New Roman" panose="02020603050405020304" charset="0"/>
              </a:rPr>
              <a:t>Stratif</a:t>
            </a:r>
            <a:r>
              <a:rPr lang="en-US" sz="1200">
                <a:latin typeface="Times New Roman" panose="02020603050405020304" charset="0"/>
                <a:cs typeface="Times New Roman" panose="02020603050405020304" charset="0"/>
              </a:rPr>
              <a:t>y 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the data</a:t>
            </a:r>
            <a:r>
              <a:rPr sz="1200">
                <a:latin typeface="Times New Roman" panose="02020603050405020304" charset="0"/>
                <a:cs typeface="Times New Roman" panose="02020603050405020304" charset="0"/>
              </a:rPr>
              <a:t> by </a:t>
            </a:r>
            <a:r>
              <a:rPr lang="en-US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sex, </a:t>
            </a:r>
            <a:r>
              <a:rPr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age</a:t>
            </a:r>
            <a:r>
              <a:rPr lang="en-US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, </a:t>
            </a:r>
            <a:r>
              <a:rPr lang="en-US" sz="1200">
                <a:latin typeface="Times New Roman" panose="02020603050405020304" charset="0"/>
                <a:cs typeface="Times New Roman" panose="02020603050405020304" charset="0"/>
              </a:rPr>
              <a:t>and country</a:t>
            </a:r>
            <a:endParaRPr 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576582" y="1613387"/>
            <a:ext cx="2136344" cy="6477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Objective 2: 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Characterizing life-course trajectories of coefficients a and b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576582" y="2455036"/>
            <a:ext cx="2136344" cy="8274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Objective 3: 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Determining the lower weight limit and upper height limit under the hyperbolic constraint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576582" y="3526795"/>
            <a:ext cx="2136344" cy="6477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Objective 4: 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Assessing the robustness of the hyperbolic constraint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576582" y="4521672"/>
            <a:ext cx="2136344" cy="6477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Objective 5: 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Analyzing the distributions of weight and height residuals</a:t>
            </a:r>
            <a:endParaRPr lang="en-US" altLang="zh-CN" sz="1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6856730" y="280561"/>
            <a:ext cx="962025" cy="43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indent="0" algn="ctr" fontAlgn="auto"/>
            <a:r>
              <a:rPr sz="1200">
                <a:latin typeface="Times New Roman" panose="02020603050405020304" charset="0"/>
                <a:cs typeface="Times New Roman" panose="02020603050405020304" charset="0"/>
              </a:rPr>
              <a:t>Correlation analysis</a:t>
            </a:r>
            <a:endParaRPr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8714740" y="190500"/>
            <a:ext cx="3030855" cy="6451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indent="0" algn="ctr" fontAlgn="auto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Linear correlation between weight and weight</a:t>
            </a:r>
            <a:r>
              <a:rPr lang="en-US" altLang="en-US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×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height is very high and peaks around age 10</a:t>
            </a:r>
            <a:r>
              <a:rPr lang="en-US" altLang="zh-CN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(Fig. 1, Figs. S1-S3 and Table S1 )</a:t>
            </a:r>
            <a:endParaRPr lang="en-US" altLang="zh-CN" sz="12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4057015" y="1613268"/>
            <a:ext cx="1584000" cy="6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indent="0" algn="ctr" fontAlgn="auto"/>
            <a:r>
              <a:rPr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Stratif</a:t>
            </a:r>
            <a:r>
              <a:rPr lang="en-US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y 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data</a:t>
            </a:r>
            <a:r>
              <a:rPr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by </a:t>
            </a:r>
            <a:r>
              <a:rPr lang="en-US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sex, </a:t>
            </a:r>
            <a:r>
              <a:rPr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age</a:t>
            </a:r>
            <a:r>
              <a:rPr lang="en-US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, and country</a:t>
            </a:r>
            <a:endParaRPr 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4057015" y="2544778"/>
            <a:ext cx="1584000" cy="6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indent="0" algn="ctr" fontAlgn="auto"/>
            <a:r>
              <a:rPr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Stratif</a:t>
            </a:r>
            <a:r>
              <a:rPr lang="en-US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y 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data</a:t>
            </a:r>
            <a:r>
              <a:rPr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by </a:t>
            </a:r>
            <a:r>
              <a:rPr lang="en-US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sex, </a:t>
            </a:r>
            <a:r>
              <a:rPr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age</a:t>
            </a:r>
            <a:r>
              <a:rPr lang="en-US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, and</a:t>
            </a:r>
            <a:r>
              <a:rPr lang="en-US" sz="12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continent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4057015" y="3436676"/>
            <a:ext cx="2448000" cy="82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indent="0" algn="ctr" fontAlgn="auto"/>
            <a:r>
              <a:rPr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Stratif</a:t>
            </a:r>
            <a:r>
              <a:rPr lang="en-US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y 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data </a:t>
            </a:r>
            <a:r>
              <a:rPr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by </a:t>
            </a:r>
            <a:r>
              <a:rPr lang="en-US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sex, </a:t>
            </a:r>
            <a:r>
              <a:rPr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age</a:t>
            </a:r>
            <a:r>
              <a:rPr lang="en-US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, and country; 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group the results by continent or age</a:t>
            </a:r>
            <a:r>
              <a:rPr lang="en-US" sz="1200">
                <a:latin typeface="Times New Roman" panose="02020603050405020304" charset="0"/>
                <a:cs typeface="Times New Roman" panose="02020603050405020304" charset="0"/>
              </a:rPr>
              <a:t> (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Age &lt; 25, 25 ≤ Age &lt; 50, and Age ≥ 50)</a:t>
            </a:r>
            <a:endParaRPr lang="zh-CN" alt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8714499" y="1169035"/>
            <a:ext cx="3030855" cy="3187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indent="0" algn="ctr" fontAlgn="auto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The hyperbolic weight-height constraint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8714740" y="1631315"/>
            <a:ext cx="3030855" cy="5010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indent="0" algn="ctr" fontAlgn="auto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coefficients a and b exhibit a distinct life-course pattern</a:t>
            </a:r>
            <a:r>
              <a:rPr lang="en-US" altLang="zh-CN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(Fig. 2, Tables S2-S4)</a:t>
            </a:r>
            <a:endParaRPr lang="en-US" altLang="zh-CN" sz="12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8714603" y="2562778"/>
            <a:ext cx="3030647" cy="61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indent="0" algn="ctr" fontAlgn="auto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Theoretical limits of weight and height defined by the hyperbolic constraint</a:t>
            </a:r>
            <a:r>
              <a:rPr lang="en-US" altLang="zh-CN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(Fig. 3, Fig. S5 )</a:t>
            </a:r>
            <a:endParaRPr lang="en-US" altLang="zh-CN" sz="12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8714603" y="3544676"/>
            <a:ext cx="3030647" cy="61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indent="0" algn="ctr" fontAlgn="auto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sWHI distribution exhibits excellent normalization, whereas BMI does not</a:t>
            </a:r>
            <a:r>
              <a:rPr lang="en-US" altLang="zh-CN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(Fig. 4, Tables S5-S7 )</a:t>
            </a:r>
            <a:endParaRPr lang="en-US" altLang="zh-CN" sz="12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8714603" y="4539553"/>
            <a:ext cx="3030647" cy="612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indent="0" algn="ctr" fontAlgn="auto"/>
            <a:r>
              <a:rPr lang="en-US" altLang="zh-CN" sz="1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weight and height residuals under the hyperbolic constraint</a:t>
            </a:r>
            <a:r>
              <a:rPr lang="en-US" altLang="zh-CN" sz="1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(Fig. 5, Tables S8 and S9 )</a:t>
            </a:r>
            <a:endParaRPr lang="en-US" altLang="zh-CN" sz="12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70" name="直接箭头连接符 13"/>
          <p:cNvCxnSpPr/>
          <p:nvPr/>
        </p:nvCxnSpPr>
        <p:spPr>
          <a:xfrm>
            <a:off x="3712626" y="1937097"/>
            <a:ext cx="344170" cy="0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71" name="直接箭头连接符 13"/>
          <p:cNvCxnSpPr/>
          <p:nvPr/>
        </p:nvCxnSpPr>
        <p:spPr>
          <a:xfrm>
            <a:off x="3712626" y="2869912"/>
            <a:ext cx="344170" cy="0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72" name="直接箭头连接符 13"/>
          <p:cNvCxnSpPr/>
          <p:nvPr/>
        </p:nvCxnSpPr>
        <p:spPr>
          <a:xfrm>
            <a:off x="3712626" y="3850352"/>
            <a:ext cx="344170" cy="0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73" name="直接箭头连接符 13"/>
          <p:cNvCxnSpPr>
            <a:stCxn id="48" idx="3"/>
            <a:endCxn id="74" idx="1"/>
          </p:cNvCxnSpPr>
          <p:nvPr/>
        </p:nvCxnSpPr>
        <p:spPr>
          <a:xfrm>
            <a:off x="3712626" y="4845397"/>
            <a:ext cx="344170" cy="0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sp>
        <p:nvSpPr>
          <p:cNvPr id="74" name="文本框 73"/>
          <p:cNvSpPr txBox="1"/>
          <p:nvPr/>
        </p:nvSpPr>
        <p:spPr>
          <a:xfrm>
            <a:off x="4057015" y="4431553"/>
            <a:ext cx="2448000" cy="82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indent="0" algn="ctr" fontAlgn="auto"/>
            <a:r>
              <a:rPr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Stratif</a:t>
            </a:r>
            <a:r>
              <a:rPr lang="en-US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y 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the data</a:t>
            </a:r>
            <a:r>
              <a:rPr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by </a:t>
            </a:r>
            <a:r>
              <a:rPr lang="en-US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sex, </a:t>
            </a:r>
            <a:r>
              <a:rPr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age</a:t>
            </a:r>
            <a:r>
              <a:rPr lang="en-US" sz="1200">
                <a:latin typeface="Times New Roman" panose="02020603050405020304" charset="0"/>
                <a:cs typeface="Times New Roman" panose="02020603050405020304" charset="0"/>
                <a:sym typeface="+mn-ea"/>
              </a:rPr>
              <a:t>, and country; 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group the results by continent or age</a:t>
            </a:r>
            <a:r>
              <a:rPr lang="en-US" sz="1200">
                <a:latin typeface="Times New Roman" panose="02020603050405020304" charset="0"/>
                <a:cs typeface="Times New Roman" panose="02020603050405020304" charset="0"/>
              </a:rPr>
              <a:t> (</a:t>
            </a:r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Age &lt; 25, 25 ≤ Age &lt; 50, and Age ≥ 50)</a:t>
            </a:r>
            <a:endParaRPr lang="zh-CN" alt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6856730" y="1721268"/>
            <a:ext cx="962025" cy="43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indent="0" algn="ctr" fontAlgn="auto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Regression analysis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6856730" y="2562778"/>
            <a:ext cx="1476000" cy="61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indent="0" algn="ctr" fontAlgn="auto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Regression analysis and manual programming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6856730" y="3634676"/>
            <a:ext cx="1476000" cy="43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indent="0" algn="ctr" fontAlgn="auto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Comparison of distribution curves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6856730" y="4629553"/>
            <a:ext cx="1476000" cy="43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anchor="ctr" anchorCtr="0">
            <a:noAutofit/>
          </a:bodyPr>
          <a:p>
            <a:pPr indent="0" algn="ctr" fontAlgn="auto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Comparison of distribution curves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79" name="直接箭头连接符 13"/>
          <p:cNvCxnSpPr/>
          <p:nvPr/>
        </p:nvCxnSpPr>
        <p:spPr>
          <a:xfrm>
            <a:off x="5640486" y="488662"/>
            <a:ext cx="1216025" cy="0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80" name="直接箭头连接符 13"/>
          <p:cNvCxnSpPr/>
          <p:nvPr/>
        </p:nvCxnSpPr>
        <p:spPr>
          <a:xfrm>
            <a:off x="5640486" y="1937268"/>
            <a:ext cx="1216025" cy="0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81" name="直接箭头连接符 13"/>
          <p:cNvCxnSpPr/>
          <p:nvPr/>
        </p:nvCxnSpPr>
        <p:spPr>
          <a:xfrm>
            <a:off x="5640486" y="2868813"/>
            <a:ext cx="1216025" cy="0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82" name="直接箭头连接符 13"/>
          <p:cNvCxnSpPr/>
          <p:nvPr/>
        </p:nvCxnSpPr>
        <p:spPr>
          <a:xfrm>
            <a:off x="6504721" y="3850523"/>
            <a:ext cx="351790" cy="0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83" name="直接箭头连接符 13"/>
          <p:cNvCxnSpPr/>
          <p:nvPr/>
        </p:nvCxnSpPr>
        <p:spPr>
          <a:xfrm>
            <a:off x="6504721" y="4845568"/>
            <a:ext cx="351790" cy="0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84" name="直接箭头连接符 13"/>
          <p:cNvCxnSpPr/>
          <p:nvPr/>
        </p:nvCxnSpPr>
        <p:spPr>
          <a:xfrm>
            <a:off x="8332251" y="4845568"/>
            <a:ext cx="382270" cy="0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85" name="直接箭头连接符 13"/>
          <p:cNvCxnSpPr/>
          <p:nvPr/>
        </p:nvCxnSpPr>
        <p:spPr>
          <a:xfrm>
            <a:off x="8332251" y="3850523"/>
            <a:ext cx="382270" cy="0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86" name="直接箭头连接符 13"/>
          <p:cNvCxnSpPr/>
          <p:nvPr/>
        </p:nvCxnSpPr>
        <p:spPr>
          <a:xfrm>
            <a:off x="8332251" y="2868813"/>
            <a:ext cx="382270" cy="0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87" name="直接箭头连接符 13"/>
          <p:cNvCxnSpPr/>
          <p:nvPr/>
        </p:nvCxnSpPr>
        <p:spPr>
          <a:xfrm>
            <a:off x="7818536" y="1937268"/>
            <a:ext cx="895985" cy="0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88" name="直接箭头连接符 13"/>
          <p:cNvCxnSpPr>
            <a:stCxn id="53" idx="3"/>
          </p:cNvCxnSpPr>
          <p:nvPr/>
        </p:nvCxnSpPr>
        <p:spPr>
          <a:xfrm flipV="1">
            <a:off x="7818536" y="486928"/>
            <a:ext cx="887095" cy="9525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89" name="直接箭头连接符 13"/>
          <p:cNvCxnSpPr/>
          <p:nvPr/>
        </p:nvCxnSpPr>
        <p:spPr>
          <a:xfrm>
            <a:off x="8328441" y="1325128"/>
            <a:ext cx="394970" cy="5715"/>
          </a:xfrm>
          <a:prstGeom prst="straightConnector1">
            <a:avLst/>
          </a:prstGeom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arrow" w="sm" len="lg"/>
          </a:ln>
        </p:spPr>
      </p:cxnSp>
      <p:cxnSp>
        <p:nvCxnSpPr>
          <p:cNvPr id="90" name="直接连接符 89"/>
          <p:cNvCxnSpPr/>
          <p:nvPr/>
        </p:nvCxnSpPr>
        <p:spPr>
          <a:xfrm flipV="1">
            <a:off x="8332730" y="1312545"/>
            <a:ext cx="7620" cy="625475"/>
          </a:xfrm>
          <a:prstGeom prst="line">
            <a:avLst/>
          </a:prstGeom>
          <a:ln w="25400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WU4NTYwNDRjODQ2YTFjZWMxNzg1ZTdjYzJmZWI4OG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1646</Words>
  <Application>WPS 演示</Application>
  <PresentationFormat>宽屏</PresentationFormat>
  <Paragraphs>47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微软雅黑</vt:lpstr>
      <vt:lpstr>Calibri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taojin xu</dc:creator>
  <cp:lastModifiedBy>Taukim Xu-じょ　とうきん</cp:lastModifiedBy>
  <cp:revision>720</cp:revision>
  <dcterms:created xsi:type="dcterms:W3CDTF">2023-08-09T12:44:00Z</dcterms:created>
  <dcterms:modified xsi:type="dcterms:W3CDTF">2026-03-24T13:26:07Z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2052-12.1.0.25225</vt:lpwstr>
  </property>
</Properties>
</file>