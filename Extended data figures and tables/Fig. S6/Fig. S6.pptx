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11879580" cy="7559675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1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04207" y="1143000"/>
            <a:ext cx="484958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85933" y="1238674"/>
            <a:ext cx="8915597" cy="2635030"/>
          </a:xfrm>
        </p:spPr>
        <p:txBody>
          <a:bodyPr anchor="b"/>
          <a:lstStyle>
            <a:lvl1pPr algn="ctr">
              <a:defRPr sz="663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85933" y="3975322"/>
            <a:ext cx="8915597" cy="1827351"/>
          </a:xfrm>
        </p:spPr>
        <p:txBody>
          <a:bodyPr/>
          <a:lstStyle>
            <a:lvl1pPr marL="0" indent="0" algn="ctr">
              <a:buNone/>
              <a:defRPr sz="2655"/>
            </a:lvl1pPr>
            <a:lvl2pPr marL="504190" indent="0" algn="ctr">
              <a:buNone/>
              <a:defRPr sz="2210"/>
            </a:lvl2pPr>
            <a:lvl3pPr marL="1007745" indent="0" algn="ctr">
              <a:buNone/>
              <a:defRPr sz="1975"/>
            </a:lvl3pPr>
            <a:lvl4pPr marL="1512570" indent="0" algn="ctr">
              <a:buNone/>
              <a:defRPr sz="1765"/>
            </a:lvl4pPr>
            <a:lvl5pPr marL="2019935" indent="0" algn="ctr">
              <a:buNone/>
              <a:defRPr sz="1765"/>
            </a:lvl5pPr>
            <a:lvl6pPr marL="2522220" indent="0" algn="ctr">
              <a:buNone/>
              <a:defRPr sz="1765"/>
            </a:lvl6pPr>
            <a:lvl7pPr marL="3026410" indent="0" algn="ctr">
              <a:buNone/>
              <a:defRPr sz="1765"/>
            </a:lvl7pPr>
            <a:lvl8pPr marL="3533140" indent="0" algn="ctr">
              <a:buNone/>
              <a:defRPr sz="1765"/>
            </a:lvl8pPr>
            <a:lvl9pPr marL="4034790" indent="0" algn="ctr">
              <a:buNone/>
              <a:defRPr sz="176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1072" y="1886920"/>
            <a:ext cx="10252935" cy="3148370"/>
          </a:xfrm>
        </p:spPr>
        <p:txBody>
          <a:bodyPr anchor="b"/>
          <a:lstStyle>
            <a:lvl1pPr>
              <a:defRPr sz="663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1072" y="5065078"/>
            <a:ext cx="10252935" cy="1655654"/>
          </a:xfrm>
        </p:spPr>
        <p:txBody>
          <a:bodyPr/>
          <a:lstStyle>
            <a:lvl1pPr marL="0" indent="0">
              <a:buNone/>
              <a:defRPr sz="265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10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75">
                <a:solidFill>
                  <a:schemeClr val="tx1">
                    <a:tint val="75000"/>
                  </a:schemeClr>
                </a:solidFill>
              </a:defRPr>
            </a:lvl3pPr>
            <a:lvl4pPr marL="15125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9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222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641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3314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479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7262" y="2014818"/>
            <a:ext cx="5052172" cy="480227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18028" y="2014818"/>
            <a:ext cx="5052172" cy="480227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402964"/>
            <a:ext cx="10252935" cy="146293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8810" y="1855385"/>
            <a:ext cx="5028952" cy="909296"/>
          </a:xfrm>
        </p:spPr>
        <p:txBody>
          <a:bodyPr anchor="b"/>
          <a:lstStyle>
            <a:lvl1pPr marL="0" indent="0">
              <a:buNone/>
              <a:defRPr sz="2655" b="1"/>
            </a:lvl1pPr>
            <a:lvl2pPr marL="504190" indent="0">
              <a:buNone/>
              <a:defRPr sz="2210" b="1"/>
            </a:lvl2pPr>
            <a:lvl3pPr marL="1007745" indent="0">
              <a:buNone/>
              <a:defRPr sz="1975" b="1"/>
            </a:lvl3pPr>
            <a:lvl4pPr marL="1512570" indent="0">
              <a:buNone/>
              <a:defRPr sz="1765" b="1"/>
            </a:lvl4pPr>
            <a:lvl5pPr marL="2019935" indent="0">
              <a:buNone/>
              <a:defRPr sz="1765" b="1"/>
            </a:lvl5pPr>
            <a:lvl6pPr marL="2522220" indent="0">
              <a:buNone/>
              <a:defRPr sz="1765" b="1"/>
            </a:lvl6pPr>
            <a:lvl7pPr marL="3026410" indent="0">
              <a:buNone/>
              <a:defRPr sz="1765" b="1"/>
            </a:lvl7pPr>
            <a:lvl8pPr marL="3533140" indent="0">
              <a:buNone/>
              <a:defRPr sz="1765" b="1"/>
            </a:lvl8pPr>
            <a:lvl9pPr marL="4034790" indent="0">
              <a:buNone/>
              <a:defRPr sz="17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18810" y="2764681"/>
            <a:ext cx="5028952" cy="406643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18028" y="1855385"/>
            <a:ext cx="5053721" cy="909296"/>
          </a:xfrm>
        </p:spPr>
        <p:txBody>
          <a:bodyPr anchor="b"/>
          <a:lstStyle>
            <a:lvl1pPr marL="0" indent="0">
              <a:buNone/>
              <a:defRPr sz="2655" b="1"/>
            </a:lvl1pPr>
            <a:lvl2pPr marL="504190" indent="0">
              <a:buNone/>
              <a:defRPr sz="2210" b="1"/>
            </a:lvl2pPr>
            <a:lvl3pPr marL="1007745" indent="0">
              <a:buNone/>
              <a:defRPr sz="1975" b="1"/>
            </a:lvl3pPr>
            <a:lvl4pPr marL="1512570" indent="0">
              <a:buNone/>
              <a:defRPr sz="1765" b="1"/>
            </a:lvl4pPr>
            <a:lvl5pPr marL="2019935" indent="0">
              <a:buNone/>
              <a:defRPr sz="1765" b="1"/>
            </a:lvl5pPr>
            <a:lvl6pPr marL="2522220" indent="0">
              <a:buNone/>
              <a:defRPr sz="1765" b="1"/>
            </a:lvl6pPr>
            <a:lvl7pPr marL="3026410" indent="0">
              <a:buNone/>
              <a:defRPr sz="1765" b="1"/>
            </a:lvl7pPr>
            <a:lvl8pPr marL="3533140" indent="0">
              <a:buNone/>
              <a:defRPr sz="1765" b="1"/>
            </a:lvl8pPr>
            <a:lvl9pPr marL="4034790" indent="0">
              <a:buNone/>
              <a:defRPr sz="17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18028" y="2764681"/>
            <a:ext cx="5053721" cy="406643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504581"/>
            <a:ext cx="3834016" cy="1766031"/>
          </a:xfrm>
        </p:spPr>
        <p:txBody>
          <a:bodyPr anchor="b"/>
          <a:lstStyle>
            <a:lvl1pPr>
              <a:defRPr sz="35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53721" y="1089753"/>
            <a:ext cx="6018028" cy="5378687"/>
          </a:xfrm>
        </p:spPr>
        <p:txBody>
          <a:bodyPr/>
          <a:lstStyle>
            <a:lvl1pPr>
              <a:defRPr sz="3525"/>
            </a:lvl1pPr>
            <a:lvl2pPr>
              <a:defRPr sz="3085"/>
            </a:lvl2pPr>
            <a:lvl3pPr>
              <a:defRPr sz="2655"/>
            </a:lvl3pPr>
            <a:lvl4pPr>
              <a:defRPr sz="2210"/>
            </a:lvl4pPr>
            <a:lvl5pPr>
              <a:defRPr sz="2210"/>
            </a:lvl5pPr>
            <a:lvl6pPr>
              <a:defRPr sz="2210"/>
            </a:lvl6pPr>
            <a:lvl7pPr>
              <a:defRPr sz="2210"/>
            </a:lvl7pPr>
            <a:lvl8pPr>
              <a:defRPr sz="2210"/>
            </a:lvl8pPr>
            <a:lvl9pPr>
              <a:defRPr sz="221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8810" y="2270612"/>
            <a:ext cx="3834016" cy="4206590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0"/>
            </a:lvl2pPr>
            <a:lvl3pPr marL="1007745" indent="0">
              <a:buNone/>
              <a:defRPr sz="1320"/>
            </a:lvl3pPr>
            <a:lvl4pPr marL="1512570" indent="0">
              <a:buNone/>
              <a:defRPr sz="1095"/>
            </a:lvl4pPr>
            <a:lvl5pPr marL="2019935" indent="0">
              <a:buNone/>
              <a:defRPr sz="1095"/>
            </a:lvl5pPr>
            <a:lvl6pPr marL="2522220" indent="0">
              <a:buNone/>
              <a:defRPr sz="1095"/>
            </a:lvl6pPr>
            <a:lvl7pPr marL="3026410" indent="0">
              <a:buNone/>
              <a:defRPr sz="1095"/>
            </a:lvl7pPr>
            <a:lvl8pPr marL="3533140" indent="0">
              <a:buNone/>
              <a:defRPr sz="1095"/>
            </a:lvl8pPr>
            <a:lvl9pPr marL="4034790" indent="0">
              <a:buNone/>
              <a:defRPr sz="10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504581"/>
            <a:ext cx="3834016" cy="1766031"/>
          </a:xfrm>
        </p:spPr>
        <p:txBody>
          <a:bodyPr anchor="b"/>
          <a:lstStyle>
            <a:lvl1pPr>
              <a:defRPr sz="35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053721" y="1089753"/>
            <a:ext cx="6018028" cy="5378687"/>
          </a:xfrm>
        </p:spPr>
        <p:txBody>
          <a:bodyPr/>
          <a:lstStyle>
            <a:lvl1pPr marL="0" indent="0">
              <a:buNone/>
              <a:defRPr sz="3525"/>
            </a:lvl1pPr>
            <a:lvl2pPr marL="504190" indent="0">
              <a:buNone/>
              <a:defRPr sz="3085"/>
            </a:lvl2pPr>
            <a:lvl3pPr marL="1007745" indent="0">
              <a:buNone/>
              <a:defRPr sz="2655"/>
            </a:lvl3pPr>
            <a:lvl4pPr marL="1512570" indent="0">
              <a:buNone/>
              <a:defRPr sz="2210"/>
            </a:lvl4pPr>
            <a:lvl5pPr marL="2019935" indent="0">
              <a:buNone/>
              <a:defRPr sz="2210"/>
            </a:lvl5pPr>
            <a:lvl6pPr marL="2522220" indent="0">
              <a:buNone/>
              <a:defRPr sz="2210"/>
            </a:lvl6pPr>
            <a:lvl7pPr marL="3026410" indent="0">
              <a:buNone/>
              <a:defRPr sz="2210"/>
            </a:lvl7pPr>
            <a:lvl8pPr marL="3533140" indent="0">
              <a:buNone/>
              <a:defRPr sz="2210"/>
            </a:lvl8pPr>
            <a:lvl9pPr marL="4034790" indent="0">
              <a:buNone/>
              <a:defRPr sz="221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8810" y="2270612"/>
            <a:ext cx="3834016" cy="4206590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0"/>
            </a:lvl2pPr>
            <a:lvl3pPr marL="1007745" indent="0">
              <a:buNone/>
              <a:defRPr sz="1320"/>
            </a:lvl3pPr>
            <a:lvl4pPr marL="1512570" indent="0">
              <a:buNone/>
              <a:defRPr sz="1095"/>
            </a:lvl4pPr>
            <a:lvl5pPr marL="2019935" indent="0">
              <a:buNone/>
              <a:defRPr sz="1095"/>
            </a:lvl5pPr>
            <a:lvl6pPr marL="2522220" indent="0">
              <a:buNone/>
              <a:defRPr sz="1095"/>
            </a:lvl6pPr>
            <a:lvl7pPr marL="3026410" indent="0">
              <a:buNone/>
              <a:defRPr sz="1095"/>
            </a:lvl7pPr>
            <a:lvl8pPr marL="3533140" indent="0">
              <a:buNone/>
              <a:defRPr sz="1095"/>
            </a:lvl8pPr>
            <a:lvl9pPr marL="4034790" indent="0">
              <a:buNone/>
              <a:defRPr sz="10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506963" y="402964"/>
            <a:ext cx="2563234" cy="6414130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7262" y="402964"/>
            <a:ext cx="7541109" cy="6414130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17262" y="402964"/>
            <a:ext cx="10252935" cy="1462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7262" y="2014818"/>
            <a:ext cx="10252935" cy="4802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17262" y="7015070"/>
            <a:ext cx="2674678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7724" y="7015070"/>
            <a:ext cx="4012016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395519" y="7015070"/>
            <a:ext cx="2674678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0825" indent="-250825" algn="l" defTabSz="1007745" rtl="0" eaLnBrk="1" latinLnBrk="0" hangingPunct="1">
        <a:lnSpc>
          <a:spcPct val="90000"/>
        </a:lnSpc>
        <a:spcBef>
          <a:spcPct val="220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755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2655" kern="1200">
          <a:solidFill>
            <a:schemeClr val="tx1"/>
          </a:solidFill>
          <a:latin typeface="+mn-lt"/>
          <a:ea typeface="+mn-ea"/>
          <a:cs typeface="+mn-cs"/>
        </a:defRPr>
      </a:lvl2pPr>
      <a:lvl3pPr marL="126047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76593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4pPr>
      <a:lvl5pPr marL="226885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5pPr>
      <a:lvl6pPr marL="277368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6pPr>
      <a:lvl7pPr marL="327914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7pPr>
      <a:lvl8pPr marL="378206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8pPr>
      <a:lvl9pPr marL="428688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3pPr>
      <a:lvl4pPr marL="151257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4pPr>
      <a:lvl5pPr marL="2019935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5pPr>
      <a:lvl6pPr marL="252222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6pPr>
      <a:lvl7pPr marL="302641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7pPr>
      <a:lvl8pPr marL="353314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8pPr>
      <a:lvl9pPr marL="403479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箭头连接符 13"/>
          <p:cNvCxnSpPr/>
          <p:nvPr/>
        </p:nvCxnSpPr>
        <p:spPr>
          <a:xfrm>
            <a:off x="1033364" y="5704790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8" name="直接箭头连接符 13"/>
          <p:cNvCxnSpPr/>
          <p:nvPr/>
        </p:nvCxnSpPr>
        <p:spPr>
          <a:xfrm>
            <a:off x="8332840" y="6584869"/>
            <a:ext cx="382296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7" name="直接箭头连接符 13"/>
          <p:cNvCxnSpPr/>
          <p:nvPr/>
        </p:nvCxnSpPr>
        <p:spPr>
          <a:xfrm>
            <a:off x="6505181" y="6584869"/>
            <a:ext cx="35181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3" name="直接箭头连接符 13"/>
          <p:cNvCxnSpPr/>
          <p:nvPr/>
        </p:nvCxnSpPr>
        <p:spPr>
          <a:xfrm>
            <a:off x="3712888" y="6584869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2" name="直接箭头连接符 13"/>
          <p:cNvCxnSpPr/>
          <p:nvPr/>
        </p:nvCxnSpPr>
        <p:spPr>
          <a:xfrm>
            <a:off x="1033364" y="6584869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9" name="直接箭头连接符 13"/>
          <p:cNvCxnSpPr/>
          <p:nvPr/>
        </p:nvCxnSpPr>
        <p:spPr>
          <a:xfrm>
            <a:off x="1033364" y="4824015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8" name="直接箭头连接符 13"/>
          <p:cNvCxnSpPr>
            <a:endCxn id="47" idx="1"/>
          </p:cNvCxnSpPr>
          <p:nvPr/>
        </p:nvCxnSpPr>
        <p:spPr>
          <a:xfrm>
            <a:off x="1009232" y="3824454"/>
            <a:ext cx="567730" cy="444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7" name="直接箭头连接符 13"/>
          <p:cNvCxnSpPr/>
          <p:nvPr/>
        </p:nvCxnSpPr>
        <p:spPr>
          <a:xfrm>
            <a:off x="894289" y="2822353"/>
            <a:ext cx="682673" cy="571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5" name="直接箭头连接符 13"/>
          <p:cNvCxnSpPr/>
          <p:nvPr/>
        </p:nvCxnSpPr>
        <p:spPr>
          <a:xfrm flipV="1">
            <a:off x="1034634" y="466972"/>
            <a:ext cx="542328" cy="127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6" name="直接箭头连接符 13"/>
          <p:cNvCxnSpPr/>
          <p:nvPr/>
        </p:nvCxnSpPr>
        <p:spPr>
          <a:xfrm flipV="1">
            <a:off x="1041620" y="1915509"/>
            <a:ext cx="535343" cy="63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5" name="直接箭头连接符 13"/>
          <p:cNvCxnSpPr/>
          <p:nvPr/>
        </p:nvCxnSpPr>
        <p:spPr>
          <a:xfrm>
            <a:off x="3712888" y="466909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1073743875" name="文本框 1073743874"/>
          <p:cNvSpPr txBox="1"/>
          <p:nvPr/>
        </p:nvSpPr>
        <p:spPr>
          <a:xfrm>
            <a:off x="166370" y="150495"/>
            <a:ext cx="1082675" cy="67792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After data identification, access, inclusion and exclusion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N = 1,277,484 [48·56% female], aged 1-90 years, from 33 countries)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576816" y="150945"/>
            <a:ext cx="2136291" cy="8325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1: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Examining life-course trajectories of the linear correlation between weight and weight 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× height</a:t>
            </a:r>
            <a:endParaRPr lang="en-US" altLang="en-US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25175" y="7082881"/>
            <a:ext cx="6485993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Fig. S6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. Overview of the data processing pipeline.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057301" y="150786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and country</a:t>
            </a:r>
            <a:endParaRPr 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76693" y="1591714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2: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Characterizing life-course trajectories of coefficients a and b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1576693" y="2433422"/>
            <a:ext cx="2136495" cy="827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3: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Determining the lower weight limit and upper height limit under the hyperbolic constraint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1576693" y="3505257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4: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Assessing the robustness of the hyperbolic constraint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576693" y="4500204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5: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Analyzing the distributions of weight and height residuals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6857214" y="258793"/>
            <a:ext cx="962093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Correlation analysis</a:t>
            </a:r>
            <a:endParaRPr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715355" y="168726"/>
            <a:ext cx="3031069" cy="6452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Linear correlation between weight and weight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×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height is very high and peaks around age 10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1, Figs. S1-S3 and Table S1 )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4057301" y="1591595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country</a:t>
            </a:r>
            <a:endParaRPr 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4057301" y="2523170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continent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4057301" y="3415131"/>
            <a:ext cx="2448173" cy="8280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country;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group the results by continent or 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Age &lt; 25, 25 ≤ Age &lt; 50, and Age ≥ 50)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8715114" y="1147330"/>
            <a:ext cx="3031069" cy="3187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hyperbolic weight-height constraint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715355" y="1609643"/>
            <a:ext cx="3031069" cy="5010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coefficients a and b exhibit a distinct life-course pattern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2, Tables S2-S4)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8715218" y="2541172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Theoretical limits of weight and height defined by the hyperbolic constraint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3, Fig. S5 )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8715218" y="3523139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sWHI distribution exhibits excellent normalization, whereas BMI does not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4, Tables S5-S7 )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8715218" y="4518086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weight and height residuals under the hyperbolic constraint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5, Tables S8 and S9 )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0" name="直接箭头连接符 13"/>
          <p:cNvCxnSpPr/>
          <p:nvPr/>
        </p:nvCxnSpPr>
        <p:spPr>
          <a:xfrm>
            <a:off x="3712888" y="1915446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1" name="直接箭头连接符 13"/>
          <p:cNvCxnSpPr/>
          <p:nvPr/>
        </p:nvCxnSpPr>
        <p:spPr>
          <a:xfrm>
            <a:off x="3712888" y="2848327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2" name="直接箭头连接符 13"/>
          <p:cNvCxnSpPr/>
          <p:nvPr/>
        </p:nvCxnSpPr>
        <p:spPr>
          <a:xfrm>
            <a:off x="3712888" y="3828836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3" name="直接箭头连接符 13"/>
          <p:cNvCxnSpPr/>
          <p:nvPr/>
        </p:nvCxnSpPr>
        <p:spPr>
          <a:xfrm>
            <a:off x="3712888" y="4823952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74" name="文本框 73"/>
          <p:cNvSpPr txBox="1"/>
          <p:nvPr/>
        </p:nvSpPr>
        <p:spPr>
          <a:xfrm>
            <a:off x="4057301" y="4410078"/>
            <a:ext cx="2448173" cy="8280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country;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group the results by continent or 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Age &lt; 25, 25 ≤ Age &lt; 50, and Age ≥ 50)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6857214" y="1699602"/>
            <a:ext cx="962093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Regression analysis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6857214" y="2541172"/>
            <a:ext cx="1476104" cy="6120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Regression analysis and manual programming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857214" y="3613145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Comparison of distribution curves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857214" y="4608092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Comparison of distribution curves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9" name="直接箭头连接符 13"/>
          <p:cNvCxnSpPr/>
          <p:nvPr/>
        </p:nvCxnSpPr>
        <p:spPr>
          <a:xfrm>
            <a:off x="5640884" y="466909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0" name="直接箭头连接符 13"/>
          <p:cNvCxnSpPr/>
          <p:nvPr/>
        </p:nvCxnSpPr>
        <p:spPr>
          <a:xfrm>
            <a:off x="5640884" y="1915617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1" name="直接箭头连接符 13"/>
          <p:cNvCxnSpPr/>
          <p:nvPr/>
        </p:nvCxnSpPr>
        <p:spPr>
          <a:xfrm>
            <a:off x="5640884" y="2847228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2" name="直接箭头连接符 13"/>
          <p:cNvCxnSpPr/>
          <p:nvPr/>
        </p:nvCxnSpPr>
        <p:spPr>
          <a:xfrm>
            <a:off x="6505180" y="3829007"/>
            <a:ext cx="351815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3" name="直接箭头连接符 13"/>
          <p:cNvCxnSpPr/>
          <p:nvPr/>
        </p:nvCxnSpPr>
        <p:spPr>
          <a:xfrm>
            <a:off x="6505180" y="4824123"/>
            <a:ext cx="351815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4" name="直接箭头连接符 13"/>
          <p:cNvCxnSpPr/>
          <p:nvPr/>
        </p:nvCxnSpPr>
        <p:spPr>
          <a:xfrm>
            <a:off x="8332839" y="4824123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5" name="直接箭头连接符 13"/>
          <p:cNvCxnSpPr/>
          <p:nvPr/>
        </p:nvCxnSpPr>
        <p:spPr>
          <a:xfrm>
            <a:off x="8332839" y="3829007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6" name="直接箭头连接符 13"/>
          <p:cNvCxnSpPr/>
          <p:nvPr/>
        </p:nvCxnSpPr>
        <p:spPr>
          <a:xfrm>
            <a:off x="8332839" y="2847228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7" name="直接箭头连接符 13"/>
          <p:cNvCxnSpPr/>
          <p:nvPr/>
        </p:nvCxnSpPr>
        <p:spPr>
          <a:xfrm>
            <a:off x="7819088" y="1915617"/>
            <a:ext cx="89604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8" name="直接箭头连接符 13"/>
          <p:cNvCxnSpPr>
            <a:stCxn id="53" idx="3"/>
          </p:cNvCxnSpPr>
          <p:nvPr/>
        </p:nvCxnSpPr>
        <p:spPr>
          <a:xfrm flipV="1">
            <a:off x="7819088" y="465175"/>
            <a:ext cx="887158" cy="9526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9" name="直接箭头连接符 13"/>
          <p:cNvCxnSpPr/>
          <p:nvPr/>
        </p:nvCxnSpPr>
        <p:spPr>
          <a:xfrm>
            <a:off x="8329029" y="1303434"/>
            <a:ext cx="394998" cy="571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90" name="直接连接符 89"/>
          <p:cNvCxnSpPr/>
          <p:nvPr/>
        </p:nvCxnSpPr>
        <p:spPr>
          <a:xfrm flipV="1">
            <a:off x="8333318" y="1290850"/>
            <a:ext cx="7621" cy="625519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13"/>
          <p:cNvCxnSpPr/>
          <p:nvPr/>
        </p:nvCxnSpPr>
        <p:spPr>
          <a:xfrm>
            <a:off x="3712888" y="5704727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" name="直接箭头连接符 13"/>
          <p:cNvCxnSpPr/>
          <p:nvPr/>
        </p:nvCxnSpPr>
        <p:spPr>
          <a:xfrm>
            <a:off x="6505180" y="5704898"/>
            <a:ext cx="35181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6" name="直接箭头连接符 13"/>
          <p:cNvCxnSpPr/>
          <p:nvPr/>
        </p:nvCxnSpPr>
        <p:spPr>
          <a:xfrm>
            <a:off x="7892150" y="5704263"/>
            <a:ext cx="822960" cy="63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8" name="文本框 7"/>
          <p:cNvSpPr txBox="1"/>
          <p:nvPr/>
        </p:nvSpPr>
        <p:spPr>
          <a:xfrm>
            <a:off x="1576694" y="5397541"/>
            <a:ext cx="2136494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6: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Confirm whether or not our findings are statistical artifacts.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057650" y="5559445"/>
            <a:ext cx="2447925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 and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857214" y="5505430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Randomization test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8715218" y="5415424"/>
            <a:ext cx="3030861" cy="6120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constraint is sensitive to the actual pairing of weight and height, making it unlikely to be a pure statistical artifact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S7)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576694" y="6265536"/>
            <a:ext cx="2136494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7: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Evaluating the eight candidate models by comparing their R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².</a:t>
            </a:r>
            <a:endParaRPr lang="zh-CN" altLang="en-US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49046" y="6427440"/>
            <a:ext cx="2448172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 and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857214" y="6373425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Model comparison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715218" y="6283418"/>
            <a:ext cx="3030861" cy="6120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No single model shows a consistent, pronounced advantage over the others across all ages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S8 )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2125</Words>
  <Application>WPS 演示</Application>
  <PresentationFormat>宽屏</PresentationFormat>
  <Paragraphs>63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734</cp:revision>
  <dcterms:created xsi:type="dcterms:W3CDTF">2023-08-09T12:44:00Z</dcterms:created>
  <dcterms:modified xsi:type="dcterms:W3CDTF">2026-04-08T06:52:27Z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2052-12.1.0.25225</vt:lpwstr>
  </property>
</Properties>
</file>