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479540" cy="3599815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7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11653" y="590213"/>
            <a:ext cx="4869905" cy="1255557"/>
          </a:xfrm>
        </p:spPr>
        <p:txBody>
          <a:bodyPr anchor="b"/>
          <a:lstStyle>
            <a:lvl1pPr algn="ctr">
              <a:defRPr sz="316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11653" y="1894191"/>
            <a:ext cx="4869905" cy="870708"/>
          </a:xfrm>
        </p:spPr>
        <p:txBody>
          <a:bodyPr/>
          <a:lstStyle>
            <a:lvl1pPr marL="0" indent="0" algn="ctr">
              <a:buNone/>
              <a:defRPr sz="1270"/>
            </a:lvl1pPr>
            <a:lvl2pPr marL="240030" indent="0" algn="ctr">
              <a:buNone/>
              <a:defRPr sz="1060"/>
            </a:lvl2pPr>
            <a:lvl3pPr marL="480695" indent="0" algn="ctr">
              <a:buNone/>
              <a:defRPr sz="950"/>
            </a:lvl3pPr>
            <a:lvl4pPr marL="720725" indent="0" algn="ctr">
              <a:buNone/>
              <a:defRPr sz="840"/>
            </a:lvl4pPr>
            <a:lvl5pPr marL="961390" indent="0" algn="ctr">
              <a:buNone/>
              <a:defRPr sz="840"/>
            </a:lvl5pPr>
            <a:lvl6pPr marL="1202690" indent="0" algn="ctr">
              <a:buNone/>
              <a:defRPr sz="840"/>
            </a:lvl6pPr>
            <a:lvl7pPr marL="1440815" indent="0" algn="ctr">
              <a:buNone/>
              <a:defRPr sz="840"/>
            </a:lvl7pPr>
            <a:lvl8pPr marL="1682115" indent="0" algn="ctr">
              <a:buNone/>
              <a:defRPr sz="840"/>
            </a:lvl8pPr>
            <a:lvl9pPr marL="1921510" indent="0" algn="ctr">
              <a:buNone/>
              <a:defRPr sz="84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3024" y="899094"/>
            <a:ext cx="5600390" cy="1500159"/>
          </a:xfrm>
        </p:spPr>
        <p:txBody>
          <a:bodyPr anchor="b"/>
          <a:lstStyle>
            <a:lvl1pPr>
              <a:defRPr sz="316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3024" y="2413445"/>
            <a:ext cx="5600390" cy="788898"/>
          </a:xfrm>
        </p:spPr>
        <p:txBody>
          <a:bodyPr/>
          <a:lstStyle>
            <a:lvl1pPr marL="0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1pPr>
            <a:lvl2pPr marL="240030" indent="0">
              <a:buNone/>
              <a:defRPr sz="1060">
                <a:solidFill>
                  <a:schemeClr val="tx1">
                    <a:tint val="75000"/>
                  </a:schemeClr>
                </a:solidFill>
              </a:defRPr>
            </a:lvl2pPr>
            <a:lvl3pPr marL="480695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3pPr>
            <a:lvl4pPr marL="720725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13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26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815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2115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15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6407" y="960035"/>
            <a:ext cx="2759612" cy="228822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287187" y="960035"/>
            <a:ext cx="2759612" cy="228822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53" y="192006"/>
            <a:ext cx="5600390" cy="69706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7253" y="884067"/>
            <a:ext cx="2746930" cy="433266"/>
          </a:xfrm>
        </p:spPr>
        <p:txBody>
          <a:bodyPr anchor="b"/>
          <a:lstStyle>
            <a:lvl1pPr marL="0" indent="0">
              <a:buNone/>
              <a:defRPr sz="1270" b="1"/>
            </a:lvl1pPr>
            <a:lvl2pPr marL="240030" indent="0">
              <a:buNone/>
              <a:defRPr sz="1060" b="1"/>
            </a:lvl2pPr>
            <a:lvl3pPr marL="480695" indent="0">
              <a:buNone/>
              <a:defRPr sz="950" b="1"/>
            </a:lvl3pPr>
            <a:lvl4pPr marL="720725" indent="0">
              <a:buNone/>
              <a:defRPr sz="840" b="1"/>
            </a:lvl4pPr>
            <a:lvl5pPr marL="961390" indent="0">
              <a:buNone/>
              <a:defRPr sz="840" b="1"/>
            </a:lvl5pPr>
            <a:lvl6pPr marL="1202690" indent="0">
              <a:buNone/>
              <a:defRPr sz="840" b="1"/>
            </a:lvl6pPr>
            <a:lvl7pPr marL="1440815" indent="0">
              <a:buNone/>
              <a:defRPr sz="840" b="1"/>
            </a:lvl7pPr>
            <a:lvl8pPr marL="1682115" indent="0">
              <a:buNone/>
              <a:defRPr sz="840" b="1"/>
            </a:lvl8pPr>
            <a:lvl9pPr marL="1921510" indent="0">
              <a:buNone/>
              <a:defRPr sz="8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7253" y="1317333"/>
            <a:ext cx="2746930" cy="193760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287187" y="884067"/>
            <a:ext cx="2760456" cy="433266"/>
          </a:xfrm>
        </p:spPr>
        <p:txBody>
          <a:bodyPr anchor="b"/>
          <a:lstStyle>
            <a:lvl1pPr marL="0" indent="0">
              <a:buNone/>
              <a:defRPr sz="1270" b="1"/>
            </a:lvl1pPr>
            <a:lvl2pPr marL="240030" indent="0">
              <a:buNone/>
              <a:defRPr sz="1060" b="1"/>
            </a:lvl2pPr>
            <a:lvl3pPr marL="480695" indent="0">
              <a:buNone/>
              <a:defRPr sz="950" b="1"/>
            </a:lvl3pPr>
            <a:lvl4pPr marL="720725" indent="0">
              <a:buNone/>
              <a:defRPr sz="840" b="1"/>
            </a:lvl4pPr>
            <a:lvl5pPr marL="961390" indent="0">
              <a:buNone/>
              <a:defRPr sz="840" b="1"/>
            </a:lvl5pPr>
            <a:lvl6pPr marL="1202690" indent="0">
              <a:buNone/>
              <a:defRPr sz="840" b="1"/>
            </a:lvl6pPr>
            <a:lvl7pPr marL="1440815" indent="0">
              <a:buNone/>
              <a:defRPr sz="840" b="1"/>
            </a:lvl7pPr>
            <a:lvl8pPr marL="1682115" indent="0">
              <a:buNone/>
              <a:defRPr sz="840" b="1"/>
            </a:lvl8pPr>
            <a:lvl9pPr marL="1921510" indent="0">
              <a:buNone/>
              <a:defRPr sz="8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287187" y="1317333"/>
            <a:ext cx="2760456" cy="193760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53" y="240427"/>
            <a:ext cx="2094226" cy="841491"/>
          </a:xfrm>
        </p:spPr>
        <p:txBody>
          <a:bodyPr anchor="b"/>
          <a:lstStyle>
            <a:lvl1pPr>
              <a:defRPr sz="168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60456" y="519254"/>
            <a:ext cx="3287187" cy="2562875"/>
          </a:xfrm>
        </p:spPr>
        <p:txBody>
          <a:bodyPr/>
          <a:lstStyle>
            <a:lvl1pPr>
              <a:defRPr sz="1685"/>
            </a:lvl1pPr>
            <a:lvl2pPr>
              <a:defRPr sz="1485"/>
            </a:lvl2pPr>
            <a:lvl3pPr>
              <a:defRPr sz="1270"/>
            </a:lvl3pPr>
            <a:lvl4pPr>
              <a:defRPr sz="1060"/>
            </a:lvl4pPr>
            <a:lvl5pPr>
              <a:defRPr sz="1060"/>
            </a:lvl5pPr>
            <a:lvl6pPr>
              <a:defRPr sz="1060"/>
            </a:lvl6pPr>
            <a:lvl7pPr>
              <a:defRPr sz="1060"/>
            </a:lvl7pPr>
            <a:lvl8pPr>
              <a:defRPr sz="1060"/>
            </a:lvl8pPr>
            <a:lvl9pPr>
              <a:defRPr sz="106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47253" y="1081918"/>
            <a:ext cx="2094226" cy="2004386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40"/>
            </a:lvl2pPr>
            <a:lvl3pPr marL="480695" indent="0">
              <a:buNone/>
              <a:defRPr sz="630"/>
            </a:lvl3pPr>
            <a:lvl4pPr marL="720725" indent="0">
              <a:buNone/>
              <a:defRPr sz="530"/>
            </a:lvl4pPr>
            <a:lvl5pPr marL="961390" indent="0">
              <a:buNone/>
              <a:defRPr sz="530"/>
            </a:lvl5pPr>
            <a:lvl6pPr marL="1202690" indent="0">
              <a:buNone/>
              <a:defRPr sz="530"/>
            </a:lvl6pPr>
            <a:lvl7pPr marL="1440815" indent="0">
              <a:buNone/>
              <a:defRPr sz="530"/>
            </a:lvl7pPr>
            <a:lvl8pPr marL="1682115" indent="0">
              <a:buNone/>
              <a:defRPr sz="530"/>
            </a:lvl8pPr>
            <a:lvl9pPr marL="1921510" indent="0">
              <a:buNone/>
              <a:defRPr sz="53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53" y="240427"/>
            <a:ext cx="2094226" cy="841491"/>
          </a:xfrm>
        </p:spPr>
        <p:txBody>
          <a:bodyPr anchor="b"/>
          <a:lstStyle>
            <a:lvl1pPr>
              <a:defRPr sz="168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760456" y="519254"/>
            <a:ext cx="3287187" cy="2562875"/>
          </a:xfrm>
        </p:spPr>
        <p:txBody>
          <a:bodyPr/>
          <a:lstStyle>
            <a:lvl1pPr marL="0" indent="0">
              <a:buNone/>
              <a:defRPr sz="1685"/>
            </a:lvl1pPr>
            <a:lvl2pPr marL="240030" indent="0">
              <a:buNone/>
              <a:defRPr sz="1485"/>
            </a:lvl2pPr>
            <a:lvl3pPr marL="480695" indent="0">
              <a:buNone/>
              <a:defRPr sz="1270"/>
            </a:lvl3pPr>
            <a:lvl4pPr marL="720725" indent="0">
              <a:buNone/>
              <a:defRPr sz="1060"/>
            </a:lvl4pPr>
            <a:lvl5pPr marL="961390" indent="0">
              <a:buNone/>
              <a:defRPr sz="1060"/>
            </a:lvl5pPr>
            <a:lvl6pPr marL="1202690" indent="0">
              <a:buNone/>
              <a:defRPr sz="1060"/>
            </a:lvl6pPr>
            <a:lvl7pPr marL="1440815" indent="0">
              <a:buNone/>
              <a:defRPr sz="1060"/>
            </a:lvl7pPr>
            <a:lvl8pPr marL="1682115" indent="0">
              <a:buNone/>
              <a:defRPr sz="1060"/>
            </a:lvl8pPr>
            <a:lvl9pPr marL="1921510" indent="0">
              <a:buNone/>
              <a:defRPr sz="106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47253" y="1081918"/>
            <a:ext cx="2094226" cy="2004386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40"/>
            </a:lvl2pPr>
            <a:lvl3pPr marL="480695" indent="0">
              <a:buNone/>
              <a:defRPr sz="630"/>
            </a:lvl3pPr>
            <a:lvl4pPr marL="720725" indent="0">
              <a:buNone/>
              <a:defRPr sz="530"/>
            </a:lvl4pPr>
            <a:lvl5pPr marL="961390" indent="0">
              <a:buNone/>
              <a:defRPr sz="530"/>
            </a:lvl5pPr>
            <a:lvl6pPr marL="1202690" indent="0">
              <a:buNone/>
              <a:defRPr sz="530"/>
            </a:lvl6pPr>
            <a:lvl7pPr marL="1440815" indent="0">
              <a:buNone/>
              <a:defRPr sz="530"/>
            </a:lvl7pPr>
            <a:lvl8pPr marL="1682115" indent="0">
              <a:buNone/>
              <a:defRPr sz="530"/>
            </a:lvl8pPr>
            <a:lvl9pPr marL="1921510" indent="0">
              <a:buNone/>
              <a:defRPr sz="53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646699" y="192006"/>
            <a:ext cx="1400098" cy="30562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6407" y="192006"/>
            <a:ext cx="4119129" cy="30562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46407" y="192006"/>
            <a:ext cx="5600390" cy="697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6407" y="960035"/>
            <a:ext cx="5600390" cy="22882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46407" y="3342590"/>
            <a:ext cx="1460968" cy="1920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150874" y="3342590"/>
            <a:ext cx="2191456" cy="1920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585829" y="3342590"/>
            <a:ext cx="1460968" cy="1920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80695" rtl="0" eaLnBrk="1" latinLnBrk="0" hangingPunct="1">
        <a:lnSpc>
          <a:spcPct val="90000"/>
        </a:lnSpc>
        <a:spcBef>
          <a:spcPct val="0"/>
        </a:spcBef>
        <a:buNone/>
        <a:defRPr sz="23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50" indent="-120650" algn="l" defTabSz="480695" rtl="0" eaLnBrk="1" latinLnBrk="0" hangingPunct="1">
        <a:lnSpc>
          <a:spcPct val="90000"/>
        </a:lnSpc>
        <a:spcBef>
          <a:spcPct val="104000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60680" indent="-120650" algn="l" defTabSz="4806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1270" kern="1200">
          <a:solidFill>
            <a:schemeClr val="tx1"/>
          </a:solidFill>
          <a:latin typeface="+mn-lt"/>
          <a:ea typeface="+mn-ea"/>
          <a:cs typeface="+mn-cs"/>
        </a:defRPr>
      </a:lvl2pPr>
      <a:lvl3pPr marL="600710" indent="-120650" algn="l" defTabSz="4806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1060" kern="1200">
          <a:solidFill>
            <a:schemeClr val="tx1"/>
          </a:solidFill>
          <a:latin typeface="+mn-lt"/>
          <a:ea typeface="+mn-ea"/>
          <a:cs typeface="+mn-cs"/>
        </a:defRPr>
      </a:lvl3pPr>
      <a:lvl4pPr marL="842010" indent="-120650" algn="l" defTabSz="4806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4pPr>
      <a:lvl5pPr marL="1082040" indent="-120650" algn="l" defTabSz="4806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650" algn="l" defTabSz="4806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1561465" indent="-120650" algn="l" defTabSz="4806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1802765" indent="-120650" algn="l" defTabSz="4806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2044065" indent="-120650" algn="l" defTabSz="4806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80695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695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2pPr>
      <a:lvl3pPr marL="480695" algn="l" defTabSz="480695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3pPr>
      <a:lvl4pPr marL="720725" algn="l" defTabSz="480695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4pPr>
      <a:lvl5pPr marL="961390" algn="l" defTabSz="480695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5pPr>
      <a:lvl6pPr marL="1202690" algn="l" defTabSz="480695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1440815" algn="l" defTabSz="480695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1682115" algn="l" defTabSz="480695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1921510" algn="l" defTabSz="480695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" Type="http://schemas.openxmlformats.org/officeDocument/2006/relationships/image" Target="../media/image4.emf"/><Relationship Id="rId5" Type="http://schemas.openxmlformats.org/officeDocument/2006/relationships/tags" Target="../tags/tag2.xml"/><Relationship Id="rId4" Type="http://schemas.openxmlformats.org/officeDocument/2006/relationships/image" Target="../media/image3.emf"/><Relationship Id="rId3" Type="http://schemas.openxmlformats.org/officeDocument/2006/relationships/tags" Target="../tags/tag1.xml"/><Relationship Id="rId2" Type="http://schemas.openxmlformats.org/officeDocument/2006/relationships/image" Target="../media/image2.emf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6.xml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图片 12" descr="Extended Data Fig. 1(d)"/>
          <p:cNvPicPr>
            <a:picLocks noChangeAspect="1"/>
          </p:cNvPicPr>
          <p:nvPr/>
        </p:nvPicPr>
        <p:blipFill>
          <a:blip r:embed="rId1"/>
          <a:srcRect l="7497" t="971" r="13936" b="1145"/>
          <a:stretch>
            <a:fillRect/>
          </a:stretch>
        </p:blipFill>
        <p:spPr>
          <a:xfrm>
            <a:off x="3301825" y="1949613"/>
            <a:ext cx="3060000" cy="1500419"/>
          </a:xfrm>
          <a:prstGeom prst="rect">
            <a:avLst/>
          </a:prstGeom>
        </p:spPr>
      </p:pic>
      <p:pic>
        <p:nvPicPr>
          <p:cNvPr id="12" name="图片 11" descr="Extended Data Fig. 1(c)"/>
          <p:cNvPicPr>
            <a:picLocks noChangeAspect="1"/>
          </p:cNvPicPr>
          <p:nvPr/>
        </p:nvPicPr>
        <p:blipFill>
          <a:blip r:embed="rId2"/>
          <a:srcRect l="7507" t="1020" r="14132" b="1045"/>
          <a:stretch>
            <a:fillRect/>
          </a:stretch>
        </p:blipFill>
        <p:spPr>
          <a:xfrm>
            <a:off x="109045" y="1946438"/>
            <a:ext cx="3060000" cy="1506656"/>
          </a:xfrm>
          <a:prstGeom prst="rect">
            <a:avLst/>
          </a:prstGeom>
        </p:spPr>
      </p:pic>
      <p:pic>
        <p:nvPicPr>
          <p:cNvPr id="8" name="图片 7" descr="Extended Data Fig. 1(b)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7272" t="1168" r="13897" b="1168"/>
          <a:stretch>
            <a:fillRect/>
          </a:stretch>
        </p:blipFill>
        <p:spPr>
          <a:xfrm>
            <a:off x="3285950" y="367828"/>
            <a:ext cx="3060000" cy="1495002"/>
          </a:xfrm>
          <a:prstGeom prst="rect">
            <a:avLst/>
          </a:prstGeom>
        </p:spPr>
      </p:pic>
      <p:pic>
        <p:nvPicPr>
          <p:cNvPr id="7" name="图片 6" descr="Extended Data Fig. 1(a)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7448" t="845" r="14426" b="1143"/>
          <a:stretch>
            <a:fillRect/>
          </a:stretch>
        </p:blipFill>
        <p:spPr>
          <a:xfrm>
            <a:off x="109680" y="353223"/>
            <a:ext cx="3060000" cy="1513879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5240" y="27940"/>
            <a:ext cx="6350000" cy="170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770">
                <a:latin typeface="Times New Roman" panose="02020603050405020304" charset="0"/>
                <a:cs typeface="Times New Roman" panose="02020603050405020304" charset="0"/>
                <a:sym typeface="+mn-ea"/>
              </a:rPr>
              <a:t>Taukim Xu, et.al. Extended Data Fig. 1. Percentile</a:t>
            </a:r>
            <a:r>
              <a:rPr lang="en-US" altLang="zh-CN" sz="770">
                <a:latin typeface="Times New Roman" panose="02020603050405020304" charset="0"/>
                <a:cs typeface="Times New Roman" panose="02020603050405020304" charset="0"/>
                <a:sym typeface="+mn-ea"/>
              </a:rPr>
              <a:t>s of linear correlation coefficient between weight and weight</a:t>
            </a:r>
            <a:r>
              <a:rPr lang="en-US" altLang="en-US" sz="770">
                <a:latin typeface="Times New Roman" panose="02020603050405020304" charset="0"/>
                <a:cs typeface="Times New Roman" panose="02020603050405020304" charset="0"/>
                <a:sym typeface="+mn-ea"/>
              </a:rPr>
              <a:t>×</a:t>
            </a:r>
            <a:r>
              <a:rPr lang="en-US" altLang="zh-CN" sz="77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height for All (a), Europe (b), America (c), and Asia (d) countries. </a:t>
            </a:r>
            <a:endParaRPr lang="en-US" altLang="zh-CN" sz="77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7"/>
            </p:custDataLst>
          </p:nvPr>
        </p:nvSpPr>
        <p:spPr>
          <a:xfrm>
            <a:off x="75077" y="233272"/>
            <a:ext cx="136940" cy="357176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a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8"/>
            </p:custDataLst>
          </p:nvPr>
        </p:nvSpPr>
        <p:spPr>
          <a:xfrm>
            <a:off x="3253887" y="233272"/>
            <a:ext cx="136940" cy="357176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b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43327" y="1840457"/>
            <a:ext cx="136940" cy="357176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c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3222137" y="1840457"/>
            <a:ext cx="136940" cy="357176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d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6.04847722091074,&quot;left&quot;:1.160594684270424,&quot;top&quot;:-39.1702698234498,&quot;width&quot;:509.50750834307337}"/>
</p:tagLst>
</file>

<file path=ppt/tags/tag2.xml><?xml version="1.0" encoding="utf-8"?>
<p:tagLst xmlns:p="http://schemas.openxmlformats.org/presentationml/2006/main">
  <p:tag name="KSO_WM_DIAGRAM_VIRTUALLY_FRAME" val="{&quot;height&quot;:346.04847722091074,&quot;left&quot;:1.160594684270424,&quot;top&quot;:-39.1702698234498,&quot;width&quot;:509.50750834307337}"/>
</p:tagLst>
</file>

<file path=ppt/tags/tag3.xml><?xml version="1.0" encoding="utf-8"?>
<p:tagLst xmlns:p="http://schemas.openxmlformats.org/presentationml/2006/main">
  <p:tag name="KSO_WM_DIAGRAM_VIRTUALLY_FRAME" val="{&quot;height&quot;:346.04847722091074,&quot;left&quot;:1.160594684270424,&quot;top&quot;:-39.1702698234498,&quot;width&quot;:509.50750834307337}"/>
</p:tagLst>
</file>

<file path=ppt/tags/tag4.xml><?xml version="1.0" encoding="utf-8"?>
<p:tagLst xmlns:p="http://schemas.openxmlformats.org/presentationml/2006/main">
  <p:tag name="KSO_WM_DIAGRAM_VIRTUALLY_FRAME" val="{&quot;height&quot;:346.04847722091074,&quot;left&quot;:1.160594684270424,&quot;top&quot;:-39.1702698234498,&quot;width&quot;:509.50750834307337}"/>
</p:tagLst>
</file>

<file path=ppt/tags/tag5.xml><?xml version="1.0" encoding="utf-8"?>
<p:tagLst xmlns:p="http://schemas.openxmlformats.org/presentationml/2006/main">
  <p:tag name="KSO_WM_DIAGRAM_VIRTUALLY_FRAME" val="{&quot;height&quot;:346.04847722091074,&quot;left&quot;:1.160594684270424,&quot;top&quot;:-39.1702698234498,&quot;width&quot;:509.50750834307337}"/>
</p:tagLst>
</file>

<file path=ppt/tags/tag6.xml><?xml version="1.0" encoding="utf-8"?>
<p:tagLst xmlns:p="http://schemas.openxmlformats.org/presentationml/2006/main">
  <p:tag name="KSO_WM_DIAGRAM_VIRTUALLY_FRAME" val="{&quot;height&quot;:346.04847722091074,&quot;left&quot;:1.160594684270424,&quot;top&quot;:-39.1702698234498,&quot;width&quot;:509.50750834307337}"/>
</p:tagLst>
</file>

<file path=ppt/tags/tag7.xml><?xml version="1.0" encoding="utf-8"?>
<p:tagLst xmlns:p="http://schemas.openxmlformats.org/presentationml/2006/main">
  <p:tag name="commondata" val="eyJoZGlkIjoiMWU4NTYwNDRjODQ2YTFjZWMxNzg1ZTdjYzJmZWI4OG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</Words>
  <Application>WPS 演示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taojin xu</dc:creator>
  <cp:lastModifiedBy>Taukim Xu-じょ　とうきん</cp:lastModifiedBy>
  <cp:revision>112</cp:revision>
  <dcterms:created xsi:type="dcterms:W3CDTF">2023-08-09T12:44:00Z</dcterms:created>
  <dcterms:modified xsi:type="dcterms:W3CDTF">2025-12-26T13:40:04Z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2052-12.1.0.24034</vt:lpwstr>
  </property>
</Properties>
</file>