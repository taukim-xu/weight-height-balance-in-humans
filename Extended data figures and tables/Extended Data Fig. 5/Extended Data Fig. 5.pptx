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1879580" cy="575945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" y="1143000"/>
            <a:ext cx="636508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5828" y="943613"/>
            <a:ext cx="8914968" cy="2007347"/>
          </a:xfrm>
        </p:spPr>
        <p:txBody>
          <a:bodyPr anchor="b"/>
          <a:lstStyle>
            <a:lvl1pPr algn="ctr">
              <a:defRPr sz="50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828" y="3028372"/>
            <a:ext cx="8914968" cy="1392063"/>
          </a:xfrm>
        </p:spPr>
        <p:txBody>
          <a:bodyPr/>
          <a:lstStyle>
            <a:lvl1pPr marL="0" indent="0" algn="ctr">
              <a:buNone/>
              <a:defRPr sz="2025"/>
            </a:lvl1pPr>
            <a:lvl2pPr marL="384175" indent="0" algn="ctr">
              <a:buNone/>
              <a:defRPr sz="1685"/>
            </a:lvl2pPr>
            <a:lvl3pPr marL="767715" indent="0" algn="ctr">
              <a:buNone/>
              <a:defRPr sz="1505"/>
            </a:lvl3pPr>
            <a:lvl4pPr marL="1151890" indent="0" algn="ctr">
              <a:buNone/>
              <a:defRPr sz="1345"/>
            </a:lvl4pPr>
            <a:lvl5pPr marL="1538605" indent="0" algn="ctr">
              <a:buNone/>
              <a:defRPr sz="1345"/>
            </a:lvl5pPr>
            <a:lvl6pPr marL="1921510" indent="0" algn="ctr">
              <a:buNone/>
              <a:defRPr sz="1345"/>
            </a:lvl6pPr>
            <a:lvl7pPr marL="2305685" indent="0" algn="ctr">
              <a:buNone/>
              <a:defRPr sz="1345"/>
            </a:lvl7pPr>
            <a:lvl8pPr marL="2691765" indent="0" algn="ctr">
              <a:buNone/>
              <a:defRPr sz="1345"/>
            </a:lvl8pPr>
            <a:lvl9pPr marL="3073400" indent="0" algn="ctr">
              <a:buNone/>
              <a:defRPr sz="134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015" y="1437442"/>
            <a:ext cx="10252211" cy="2398406"/>
          </a:xfrm>
        </p:spPr>
        <p:txBody>
          <a:bodyPr anchor="b"/>
          <a:lstStyle>
            <a:lvl1pPr>
              <a:defRPr sz="50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015" y="3858540"/>
            <a:ext cx="10252211" cy="1261265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38417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2pPr>
            <a:lvl3pPr marL="767715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3pPr>
            <a:lvl4pPr marL="115189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4pPr>
            <a:lvl5pPr marL="153860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5pPr>
            <a:lvl6pPr marL="192151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6pPr>
            <a:lvl7pPr marL="230568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7pPr>
            <a:lvl8pPr marL="269176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8pPr>
            <a:lvl9pPr marL="307340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7204" y="1534874"/>
            <a:ext cx="5051815" cy="36583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7603" y="1534874"/>
            <a:ext cx="5051815" cy="36583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752" y="306975"/>
            <a:ext cx="10252211" cy="111445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8752" y="1413419"/>
            <a:ext cx="5028597" cy="692695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4175" indent="0">
              <a:buNone/>
              <a:defRPr sz="1685" b="1"/>
            </a:lvl2pPr>
            <a:lvl3pPr marL="767715" indent="0">
              <a:buNone/>
              <a:defRPr sz="1505" b="1"/>
            </a:lvl3pPr>
            <a:lvl4pPr marL="1151890" indent="0">
              <a:buNone/>
              <a:defRPr sz="1345" b="1"/>
            </a:lvl4pPr>
            <a:lvl5pPr marL="1538605" indent="0">
              <a:buNone/>
              <a:defRPr sz="1345" b="1"/>
            </a:lvl5pPr>
            <a:lvl6pPr marL="1921510" indent="0">
              <a:buNone/>
              <a:defRPr sz="1345" b="1"/>
            </a:lvl6pPr>
            <a:lvl7pPr marL="2305685" indent="0">
              <a:buNone/>
              <a:defRPr sz="1345" b="1"/>
            </a:lvl7pPr>
            <a:lvl8pPr marL="2691765" indent="0">
              <a:buNone/>
              <a:defRPr sz="1345" b="1"/>
            </a:lvl8pPr>
            <a:lvl9pPr marL="307340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18752" y="2106114"/>
            <a:ext cx="5028597" cy="30977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17603" y="1413419"/>
            <a:ext cx="5053364" cy="692695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4175" indent="0">
              <a:buNone/>
              <a:defRPr sz="1685" b="1"/>
            </a:lvl2pPr>
            <a:lvl3pPr marL="767715" indent="0">
              <a:buNone/>
              <a:defRPr sz="1505" b="1"/>
            </a:lvl3pPr>
            <a:lvl4pPr marL="1151890" indent="0">
              <a:buNone/>
              <a:defRPr sz="1345" b="1"/>
            </a:lvl4pPr>
            <a:lvl5pPr marL="1538605" indent="0">
              <a:buNone/>
              <a:defRPr sz="1345" b="1"/>
            </a:lvl5pPr>
            <a:lvl6pPr marL="1921510" indent="0">
              <a:buNone/>
              <a:defRPr sz="1345" b="1"/>
            </a:lvl6pPr>
            <a:lvl7pPr marL="2305685" indent="0">
              <a:buNone/>
              <a:defRPr sz="1345" b="1"/>
            </a:lvl7pPr>
            <a:lvl8pPr marL="2691765" indent="0">
              <a:buNone/>
              <a:defRPr sz="1345" b="1"/>
            </a:lvl8pPr>
            <a:lvl9pPr marL="307340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17603" y="2106114"/>
            <a:ext cx="5053364" cy="30977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752" y="384386"/>
            <a:ext cx="3833745" cy="1345350"/>
          </a:xfrm>
        </p:spPr>
        <p:txBody>
          <a:bodyPr anchor="b"/>
          <a:lstStyle>
            <a:lvl1pPr>
              <a:defRPr sz="26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53364" y="830166"/>
            <a:ext cx="6017603" cy="4097445"/>
          </a:xfrm>
        </p:spPr>
        <p:txBody>
          <a:bodyPr/>
          <a:lstStyle>
            <a:lvl1pPr>
              <a:defRPr sz="2685"/>
            </a:lvl1pPr>
            <a:lvl2pPr>
              <a:defRPr sz="2350"/>
            </a:lvl2pPr>
            <a:lvl3pPr>
              <a:defRPr sz="2025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8752" y="1729736"/>
            <a:ext cx="3833745" cy="3204550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0"/>
            </a:lvl2pPr>
            <a:lvl3pPr marL="767715" indent="0">
              <a:buNone/>
              <a:defRPr sz="1005"/>
            </a:lvl3pPr>
            <a:lvl4pPr marL="1151890" indent="0">
              <a:buNone/>
              <a:defRPr sz="835"/>
            </a:lvl4pPr>
            <a:lvl5pPr marL="1538605" indent="0">
              <a:buNone/>
              <a:defRPr sz="835"/>
            </a:lvl5pPr>
            <a:lvl6pPr marL="1921510" indent="0">
              <a:buNone/>
              <a:defRPr sz="835"/>
            </a:lvl6pPr>
            <a:lvl7pPr marL="2305685" indent="0">
              <a:buNone/>
              <a:defRPr sz="835"/>
            </a:lvl7pPr>
            <a:lvl8pPr marL="2691765" indent="0">
              <a:buNone/>
              <a:defRPr sz="835"/>
            </a:lvl8pPr>
            <a:lvl9pPr marL="3073400" indent="0">
              <a:buNone/>
              <a:defRPr sz="8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752" y="384386"/>
            <a:ext cx="3833745" cy="1345350"/>
          </a:xfrm>
        </p:spPr>
        <p:txBody>
          <a:bodyPr anchor="b"/>
          <a:lstStyle>
            <a:lvl1pPr>
              <a:defRPr sz="26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53364" y="830166"/>
            <a:ext cx="6017603" cy="4097445"/>
          </a:xfrm>
        </p:spPr>
        <p:txBody>
          <a:bodyPr/>
          <a:lstStyle>
            <a:lvl1pPr marL="0" indent="0">
              <a:buNone/>
              <a:defRPr sz="2685"/>
            </a:lvl1pPr>
            <a:lvl2pPr marL="384175" indent="0">
              <a:buNone/>
              <a:defRPr sz="2350"/>
            </a:lvl2pPr>
            <a:lvl3pPr marL="767715" indent="0">
              <a:buNone/>
              <a:defRPr sz="2025"/>
            </a:lvl3pPr>
            <a:lvl4pPr marL="1151890" indent="0">
              <a:buNone/>
              <a:defRPr sz="1685"/>
            </a:lvl4pPr>
            <a:lvl5pPr marL="1538605" indent="0">
              <a:buNone/>
              <a:defRPr sz="1685"/>
            </a:lvl5pPr>
            <a:lvl6pPr marL="1921510" indent="0">
              <a:buNone/>
              <a:defRPr sz="1685"/>
            </a:lvl6pPr>
            <a:lvl7pPr marL="2305685" indent="0">
              <a:buNone/>
              <a:defRPr sz="1685"/>
            </a:lvl7pPr>
            <a:lvl8pPr marL="2691765" indent="0">
              <a:buNone/>
              <a:defRPr sz="1685"/>
            </a:lvl8pPr>
            <a:lvl9pPr marL="3073400" indent="0">
              <a:buNone/>
              <a:defRPr sz="168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8752" y="1729736"/>
            <a:ext cx="3833745" cy="3204550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0"/>
            </a:lvl2pPr>
            <a:lvl3pPr marL="767715" indent="0">
              <a:buNone/>
              <a:defRPr sz="1005"/>
            </a:lvl3pPr>
            <a:lvl4pPr marL="1151890" indent="0">
              <a:buNone/>
              <a:defRPr sz="835"/>
            </a:lvl4pPr>
            <a:lvl5pPr marL="1538605" indent="0">
              <a:buNone/>
              <a:defRPr sz="835"/>
            </a:lvl5pPr>
            <a:lvl6pPr marL="1921510" indent="0">
              <a:buNone/>
              <a:defRPr sz="835"/>
            </a:lvl6pPr>
            <a:lvl7pPr marL="2305685" indent="0">
              <a:buNone/>
              <a:defRPr sz="835"/>
            </a:lvl7pPr>
            <a:lvl8pPr marL="2691765" indent="0">
              <a:buNone/>
              <a:defRPr sz="835"/>
            </a:lvl8pPr>
            <a:lvl9pPr marL="3073400" indent="0">
              <a:buNone/>
              <a:defRPr sz="8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506363" y="306975"/>
            <a:ext cx="2563053" cy="4886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7204" y="306975"/>
            <a:ext cx="7540577" cy="4886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17204" y="306975"/>
            <a:ext cx="10252211" cy="11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7204" y="1534874"/>
            <a:ext cx="10252211" cy="3658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17204" y="5344030"/>
            <a:ext cx="2674489" cy="306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446" y="5344030"/>
            <a:ext cx="4011733" cy="306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94927" y="5344030"/>
            <a:ext cx="2674489" cy="306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67715" rtl="0" eaLnBrk="1" latinLnBrk="0" hangingPunct="1">
        <a:lnSpc>
          <a:spcPct val="90000"/>
        </a:lnSpc>
        <a:spcBef>
          <a:spcPct val="0"/>
        </a:spcBef>
        <a:buNone/>
        <a:defRPr sz="3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135" indent="-191135" algn="l" defTabSz="767715" rtl="0" eaLnBrk="1" latinLnBrk="0" hangingPunct="1">
        <a:lnSpc>
          <a:spcPct val="90000"/>
        </a:lnSpc>
        <a:spcBef>
          <a:spcPts val="835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1pPr>
      <a:lvl2pPr marL="577215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34493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5pPr>
      <a:lvl6pPr marL="211328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6pPr>
      <a:lvl7pPr marL="249809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7pPr>
      <a:lvl8pPr marL="2880995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1pPr>
      <a:lvl2pPr marL="38417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2pPr>
      <a:lvl3pPr marL="76771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4pPr>
      <a:lvl5pPr marL="153860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5pPr>
      <a:lvl6pPr marL="192151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6pPr>
      <a:lvl7pPr marL="230568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7pPr>
      <a:lvl8pPr marL="269176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8pPr>
      <a:lvl9pPr marL="307340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9" name="直接箭头连接符 13"/>
          <p:cNvCxnSpPr>
            <a:endCxn id="48" idx="1"/>
          </p:cNvCxnSpPr>
          <p:nvPr/>
        </p:nvCxnSpPr>
        <p:spPr>
          <a:xfrm>
            <a:off x="1033291" y="5218840"/>
            <a:ext cx="54356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8" name="直接箭头连接符 13"/>
          <p:cNvCxnSpPr>
            <a:endCxn id="47" idx="1"/>
          </p:cNvCxnSpPr>
          <p:nvPr/>
        </p:nvCxnSpPr>
        <p:spPr>
          <a:xfrm>
            <a:off x="1009161" y="4219350"/>
            <a:ext cx="567690" cy="444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7" name="直接箭头连接符 13"/>
          <p:cNvCxnSpPr/>
          <p:nvPr/>
        </p:nvCxnSpPr>
        <p:spPr>
          <a:xfrm>
            <a:off x="894226" y="3217320"/>
            <a:ext cx="682625" cy="571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5" name="直接箭头连接符 13"/>
          <p:cNvCxnSpPr/>
          <p:nvPr/>
        </p:nvCxnSpPr>
        <p:spPr>
          <a:xfrm flipV="1">
            <a:off x="1034561" y="862105"/>
            <a:ext cx="542290" cy="127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6" name="直接箭头连接符 13"/>
          <p:cNvCxnSpPr/>
          <p:nvPr/>
        </p:nvCxnSpPr>
        <p:spPr>
          <a:xfrm flipV="1">
            <a:off x="1041546" y="2310540"/>
            <a:ext cx="535305" cy="63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25" name="直接箭头连接符 13"/>
          <p:cNvCxnSpPr/>
          <p:nvPr/>
        </p:nvCxnSpPr>
        <p:spPr>
          <a:xfrm>
            <a:off x="3712626" y="862042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sp>
        <p:nvSpPr>
          <p:cNvPr id="1073743875" name="文本框 1073743874"/>
          <p:cNvSpPr txBox="1"/>
          <p:nvPr/>
        </p:nvSpPr>
        <p:spPr>
          <a:xfrm>
            <a:off x="166672" y="538446"/>
            <a:ext cx="1082778" cy="509448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After data identification, access, inclusion and exclusion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N = 1,277,484 [48·56% female], aged 1-90 years, from 33 countries)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76582" y="545910"/>
            <a:ext cx="2136344" cy="6480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1: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Examining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life-course trajectories of the correlation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16269" y="95106"/>
            <a:ext cx="6485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Taukim Xu, et.al.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Extended Data Fig. 5.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Overview of the data processing pipeline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57015" y="545941"/>
            <a:ext cx="158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 b="1">
                <a:latin typeface="Times New Roman" panose="02020603050405020304" charset="0"/>
                <a:cs typeface="Times New Roman" panose="02020603050405020304" charset="0"/>
              </a:rPr>
              <a:t>Stratif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y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the data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</a:rPr>
              <a:t> by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and country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76582" y="1986767"/>
            <a:ext cx="2136344" cy="647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2: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Characterizing life-course trajectories of coefficients a and b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6582" y="2828416"/>
            <a:ext cx="2136344" cy="8274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3: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Determining the lower weight limit and upper height limit under the hyperbolic constraint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576582" y="3900175"/>
            <a:ext cx="2136344" cy="647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4: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Assessing the robustness of the hyperbolic constraint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576582" y="4895052"/>
            <a:ext cx="2136344" cy="647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5: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Analyzing the distributions of weight and height residuals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856730" y="653941"/>
            <a:ext cx="962025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 b="1">
                <a:latin typeface="Times New Roman" panose="02020603050405020304" charset="0"/>
                <a:cs typeface="Times New Roman" panose="02020603050405020304" charset="0"/>
              </a:rPr>
              <a:t>Correlation analysis</a:t>
            </a:r>
            <a:endParaRPr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714740" y="563880"/>
            <a:ext cx="3030855" cy="79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Linear correlation between weight and weight</a:t>
            </a:r>
            <a:r>
              <a:rPr lang="en-US" altLang="en-US" sz="1200" b="1"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height is very high and peaks around age 10 (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Figure 2, </a:t>
            </a:r>
            <a:r>
              <a:rPr lang="en-US" altLang="zh-CN" sz="12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Extended Data Figs. 1-4 and Extended Data Table 1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57015" y="1986648"/>
            <a:ext cx="158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by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and country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057015" y="2918158"/>
            <a:ext cx="158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by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continent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057015" y="3810056"/>
            <a:ext cx="2448000" cy="82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 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by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country;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group the results by continent or 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Age &lt; 25, 25 ≤ Age &lt; 50, and Age ≥ 50)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714499" y="1542415"/>
            <a:ext cx="3030855" cy="3187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The hyperbolic weight-height constraint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714603" y="2004648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The coefficients a and b exhibit a distinct life-course pattern (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Figure 3, </a:t>
            </a:r>
            <a:r>
              <a:rPr lang="en-US" altLang="zh-CN" sz="12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Extended Data Tables 2-4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714603" y="2936158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Theoretical limits of weight and height defined by the hyperbolic constraint (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Figure 4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714603" y="3918056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sWHI distribution exhibits excellent normalization, whereas BMI does not (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Figure 5, </a:t>
            </a:r>
            <a:r>
              <a:rPr lang="en-US" altLang="zh-CN" sz="12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Extended Data Tables 5-7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714603" y="4912933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The weight and height residuals under the hyperbolic constraint (</a:t>
            </a:r>
            <a:r>
              <a:rPr lang="en-US" altLang="zh-CN" sz="12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Figure 6, </a:t>
            </a:r>
            <a:r>
              <a:rPr lang="en-US" altLang="zh-CN" sz="12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Extended Data Tables 8 and 9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0" name="直接箭头连接符 13"/>
          <p:cNvCxnSpPr/>
          <p:nvPr/>
        </p:nvCxnSpPr>
        <p:spPr>
          <a:xfrm>
            <a:off x="3712626" y="2310477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71" name="直接箭头连接符 13"/>
          <p:cNvCxnSpPr/>
          <p:nvPr/>
        </p:nvCxnSpPr>
        <p:spPr>
          <a:xfrm>
            <a:off x="3712626" y="3243292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72" name="直接箭头连接符 13"/>
          <p:cNvCxnSpPr/>
          <p:nvPr/>
        </p:nvCxnSpPr>
        <p:spPr>
          <a:xfrm>
            <a:off x="3712626" y="4223732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73" name="直接箭头连接符 13"/>
          <p:cNvCxnSpPr>
            <a:stCxn id="48" idx="3"/>
            <a:endCxn id="74" idx="1"/>
          </p:cNvCxnSpPr>
          <p:nvPr/>
        </p:nvCxnSpPr>
        <p:spPr>
          <a:xfrm>
            <a:off x="3712626" y="5218777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sp>
        <p:nvSpPr>
          <p:cNvPr id="74" name="文本框 73"/>
          <p:cNvSpPr txBox="1"/>
          <p:nvPr/>
        </p:nvSpPr>
        <p:spPr>
          <a:xfrm>
            <a:off x="4057015" y="4804933"/>
            <a:ext cx="2448000" cy="82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by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country; 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group the results by continent or age</a:t>
            </a:r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Age &lt; 25, 25 ≤ Age &lt; 50, and Age ≥ 50)</a:t>
            </a:r>
            <a:endParaRPr lang="zh-CN" alt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856730" y="2094648"/>
            <a:ext cx="962025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Regression analysis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856730" y="2936158"/>
            <a:ext cx="1476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Regression analysis and manual programming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856730" y="4008056"/>
            <a:ext cx="1476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Comparison of distribution curves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856730" y="5002933"/>
            <a:ext cx="1476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Comparison of distribution curves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9" name="直接箭头连接符 13"/>
          <p:cNvCxnSpPr/>
          <p:nvPr/>
        </p:nvCxnSpPr>
        <p:spPr>
          <a:xfrm>
            <a:off x="5640486" y="862042"/>
            <a:ext cx="12160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0" name="直接箭头连接符 13"/>
          <p:cNvCxnSpPr/>
          <p:nvPr/>
        </p:nvCxnSpPr>
        <p:spPr>
          <a:xfrm>
            <a:off x="5640486" y="2310648"/>
            <a:ext cx="12160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1" name="直接箭头连接符 13"/>
          <p:cNvCxnSpPr/>
          <p:nvPr/>
        </p:nvCxnSpPr>
        <p:spPr>
          <a:xfrm>
            <a:off x="5640486" y="3242193"/>
            <a:ext cx="12160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2" name="直接箭头连接符 13"/>
          <p:cNvCxnSpPr/>
          <p:nvPr/>
        </p:nvCxnSpPr>
        <p:spPr>
          <a:xfrm>
            <a:off x="6504721" y="4223903"/>
            <a:ext cx="35179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3" name="直接箭头连接符 13"/>
          <p:cNvCxnSpPr/>
          <p:nvPr/>
        </p:nvCxnSpPr>
        <p:spPr>
          <a:xfrm>
            <a:off x="6504721" y="5218948"/>
            <a:ext cx="35179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4" name="直接箭头连接符 13"/>
          <p:cNvCxnSpPr/>
          <p:nvPr/>
        </p:nvCxnSpPr>
        <p:spPr>
          <a:xfrm>
            <a:off x="8332251" y="5218948"/>
            <a:ext cx="3822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5" name="直接箭头连接符 13"/>
          <p:cNvCxnSpPr/>
          <p:nvPr/>
        </p:nvCxnSpPr>
        <p:spPr>
          <a:xfrm>
            <a:off x="8332251" y="4223903"/>
            <a:ext cx="3822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6" name="直接箭头连接符 13"/>
          <p:cNvCxnSpPr/>
          <p:nvPr/>
        </p:nvCxnSpPr>
        <p:spPr>
          <a:xfrm>
            <a:off x="8332251" y="3242193"/>
            <a:ext cx="3822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7" name="直接箭头连接符 13"/>
          <p:cNvCxnSpPr/>
          <p:nvPr/>
        </p:nvCxnSpPr>
        <p:spPr>
          <a:xfrm>
            <a:off x="7818536" y="2310648"/>
            <a:ext cx="89598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8" name="直接箭头连接符 13"/>
          <p:cNvCxnSpPr>
            <a:stCxn id="53" idx="3"/>
          </p:cNvCxnSpPr>
          <p:nvPr/>
        </p:nvCxnSpPr>
        <p:spPr>
          <a:xfrm flipV="1">
            <a:off x="7818536" y="860308"/>
            <a:ext cx="887095" cy="952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9" name="直接箭头连接符 13"/>
          <p:cNvCxnSpPr/>
          <p:nvPr/>
        </p:nvCxnSpPr>
        <p:spPr>
          <a:xfrm>
            <a:off x="8328441" y="1698508"/>
            <a:ext cx="394970" cy="571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90" name="直接连接符 89"/>
          <p:cNvCxnSpPr/>
          <p:nvPr/>
        </p:nvCxnSpPr>
        <p:spPr>
          <a:xfrm flipV="1">
            <a:off x="8332730" y="1685925"/>
            <a:ext cx="7620" cy="625475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1696</Words>
  <Application>WPS 演示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712</cp:revision>
  <dcterms:created xsi:type="dcterms:W3CDTF">2023-08-09T12:44:00Z</dcterms:created>
  <dcterms:modified xsi:type="dcterms:W3CDTF">2026-01-05T01:30:31Z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