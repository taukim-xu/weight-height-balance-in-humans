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879580" cy="93599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7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7802" y="1534573"/>
            <a:ext cx="8926794" cy="3264488"/>
          </a:xfrm>
        </p:spPr>
        <p:txBody>
          <a:bodyPr anchor="b"/>
          <a:lstStyle>
            <a:lvl1pPr algn="ctr">
              <a:defRPr sz="78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7802" y="4924957"/>
            <a:ext cx="8926794" cy="2263869"/>
          </a:xfrm>
        </p:spPr>
        <p:txBody>
          <a:bodyPr/>
          <a:lstStyle>
            <a:lvl1pPr marL="0" indent="0" algn="ctr">
              <a:buNone/>
              <a:defRPr sz="3135"/>
            </a:lvl1pPr>
            <a:lvl2pPr marL="594360" indent="0" algn="ctr">
              <a:buNone/>
              <a:defRPr sz="2620"/>
            </a:lvl2pPr>
            <a:lvl3pPr marL="1188720" indent="0" algn="ctr">
              <a:buNone/>
              <a:defRPr sz="2355"/>
            </a:lvl3pPr>
            <a:lvl4pPr marL="1783715" indent="0" algn="ctr">
              <a:buNone/>
              <a:defRPr sz="2085"/>
            </a:lvl4pPr>
            <a:lvl5pPr marL="2378710" indent="0" algn="ctr">
              <a:buNone/>
              <a:defRPr sz="2085"/>
            </a:lvl5pPr>
            <a:lvl6pPr marL="2976245" indent="0" algn="ctr">
              <a:buNone/>
              <a:defRPr sz="2085"/>
            </a:lvl6pPr>
            <a:lvl7pPr marL="3566160" indent="0" algn="ctr">
              <a:buNone/>
              <a:defRPr sz="2085"/>
            </a:lvl7pPr>
            <a:lvl8pPr marL="4163060" indent="0" algn="ctr">
              <a:buNone/>
              <a:defRPr sz="2085"/>
            </a:lvl8pPr>
            <a:lvl9pPr marL="4755515" indent="0" algn="ctr">
              <a:buNone/>
              <a:defRPr sz="208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089" y="2337673"/>
            <a:ext cx="10265813" cy="3900459"/>
          </a:xfrm>
        </p:spPr>
        <p:txBody>
          <a:bodyPr anchor="b"/>
          <a:lstStyle>
            <a:lvl1pPr>
              <a:defRPr sz="78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2089" y="6275031"/>
            <a:ext cx="10265813" cy="2051158"/>
          </a:xfrm>
        </p:spPr>
        <p:txBody>
          <a:bodyPr/>
          <a:lstStyle>
            <a:lvl1pPr marL="0" indent="0">
              <a:buNone/>
              <a:defRPr sz="3135">
                <a:solidFill>
                  <a:schemeClr val="tx1">
                    <a:tint val="75000"/>
                  </a:schemeClr>
                </a:solidFill>
              </a:defRPr>
            </a:lvl1pPr>
            <a:lvl2pPr marL="59436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2pPr>
            <a:lvl3pPr marL="1188720" indent="0">
              <a:buNone/>
              <a:defRPr sz="2355">
                <a:solidFill>
                  <a:schemeClr val="tx1">
                    <a:tint val="75000"/>
                  </a:schemeClr>
                </a:solidFill>
              </a:defRPr>
            </a:lvl3pPr>
            <a:lvl4pPr marL="178371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4pPr>
            <a:lvl5pPr marL="237871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5pPr>
            <a:lvl6pPr marL="297624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6pPr>
            <a:lvl7pPr marL="356616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7pPr>
            <a:lvl8pPr marL="4163060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8pPr>
            <a:lvl9pPr marL="4755515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8289" y="2496120"/>
            <a:ext cx="5058517" cy="594944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25588" y="2496120"/>
            <a:ext cx="5058517" cy="594944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499221"/>
            <a:ext cx="10265813" cy="181240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9838" y="2298601"/>
            <a:ext cx="5035270" cy="1126506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4360" indent="0">
              <a:buNone/>
              <a:defRPr sz="2620" b="1"/>
            </a:lvl2pPr>
            <a:lvl3pPr marL="1188720" indent="0">
              <a:buNone/>
              <a:defRPr sz="2355" b="1"/>
            </a:lvl3pPr>
            <a:lvl4pPr marL="1783715" indent="0">
              <a:buNone/>
              <a:defRPr sz="2085" b="1"/>
            </a:lvl4pPr>
            <a:lvl5pPr marL="2378710" indent="0">
              <a:buNone/>
              <a:defRPr sz="2085" b="1"/>
            </a:lvl5pPr>
            <a:lvl6pPr marL="2976245" indent="0">
              <a:buNone/>
              <a:defRPr sz="2085" b="1"/>
            </a:lvl6pPr>
            <a:lvl7pPr marL="3566160" indent="0">
              <a:buNone/>
              <a:defRPr sz="2085" b="1"/>
            </a:lvl7pPr>
            <a:lvl8pPr marL="4163060" indent="0">
              <a:buNone/>
              <a:defRPr sz="2085" b="1"/>
            </a:lvl8pPr>
            <a:lvl9pPr marL="4755515" indent="0">
              <a:buNone/>
              <a:defRPr sz="208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9838" y="3425107"/>
            <a:ext cx="5035270" cy="5037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25588" y="2298601"/>
            <a:ext cx="5060065" cy="1126506"/>
          </a:xfrm>
        </p:spPr>
        <p:txBody>
          <a:bodyPr anchor="b"/>
          <a:lstStyle>
            <a:lvl1pPr marL="0" indent="0">
              <a:buNone/>
              <a:defRPr sz="3135" b="1"/>
            </a:lvl1pPr>
            <a:lvl2pPr marL="594360" indent="0">
              <a:buNone/>
              <a:defRPr sz="2620" b="1"/>
            </a:lvl2pPr>
            <a:lvl3pPr marL="1188720" indent="0">
              <a:buNone/>
              <a:defRPr sz="2355" b="1"/>
            </a:lvl3pPr>
            <a:lvl4pPr marL="1783715" indent="0">
              <a:buNone/>
              <a:defRPr sz="2085" b="1"/>
            </a:lvl4pPr>
            <a:lvl5pPr marL="2378710" indent="0">
              <a:buNone/>
              <a:defRPr sz="2085" b="1"/>
            </a:lvl5pPr>
            <a:lvl6pPr marL="2976245" indent="0">
              <a:buNone/>
              <a:defRPr sz="2085" b="1"/>
            </a:lvl6pPr>
            <a:lvl7pPr marL="3566160" indent="0">
              <a:buNone/>
              <a:defRPr sz="2085" b="1"/>
            </a:lvl7pPr>
            <a:lvl8pPr marL="4163060" indent="0">
              <a:buNone/>
              <a:defRPr sz="2085" b="1"/>
            </a:lvl8pPr>
            <a:lvl9pPr marL="4755515" indent="0">
              <a:buNone/>
              <a:defRPr sz="208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25588" y="3425107"/>
            <a:ext cx="5060065" cy="50378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625117"/>
            <a:ext cx="3838828" cy="2187903"/>
          </a:xfrm>
        </p:spPr>
        <p:txBody>
          <a:bodyPr anchor="b"/>
          <a:lstStyle>
            <a:lvl1pPr>
              <a:defRPr sz="41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60065" y="1350075"/>
            <a:ext cx="6025588" cy="6663555"/>
          </a:xfrm>
        </p:spPr>
        <p:txBody>
          <a:bodyPr/>
          <a:lstStyle>
            <a:lvl1pPr>
              <a:defRPr sz="4170"/>
            </a:lvl1pPr>
            <a:lvl2pPr>
              <a:defRPr sz="3675"/>
            </a:lvl2pPr>
            <a:lvl3pPr>
              <a:defRPr sz="3135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38" y="2813020"/>
            <a:ext cx="3838828" cy="5211468"/>
          </a:xfrm>
        </p:spPr>
        <p:txBody>
          <a:bodyPr/>
          <a:lstStyle>
            <a:lvl1pPr marL="0" indent="0">
              <a:buNone/>
              <a:defRPr sz="2085"/>
            </a:lvl1pPr>
            <a:lvl2pPr marL="594360" indent="0">
              <a:buNone/>
              <a:defRPr sz="1835"/>
            </a:lvl2pPr>
            <a:lvl3pPr marL="1188720" indent="0">
              <a:buNone/>
              <a:defRPr sz="1570"/>
            </a:lvl3pPr>
            <a:lvl4pPr marL="1783715" indent="0">
              <a:buNone/>
              <a:defRPr sz="1320"/>
            </a:lvl4pPr>
            <a:lvl5pPr marL="2378710" indent="0">
              <a:buNone/>
              <a:defRPr sz="1320"/>
            </a:lvl5pPr>
            <a:lvl6pPr marL="2976245" indent="0">
              <a:buNone/>
              <a:defRPr sz="1320"/>
            </a:lvl6pPr>
            <a:lvl7pPr marL="3566160" indent="0">
              <a:buNone/>
              <a:defRPr sz="1320"/>
            </a:lvl7pPr>
            <a:lvl8pPr marL="4163060" indent="0">
              <a:buNone/>
              <a:defRPr sz="1320"/>
            </a:lvl8pPr>
            <a:lvl9pPr marL="4755515" indent="0">
              <a:buNone/>
              <a:defRPr sz="13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838" y="625117"/>
            <a:ext cx="3838828" cy="2187903"/>
          </a:xfrm>
        </p:spPr>
        <p:txBody>
          <a:bodyPr anchor="b"/>
          <a:lstStyle>
            <a:lvl1pPr>
              <a:defRPr sz="41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60065" y="1350075"/>
            <a:ext cx="6025588" cy="6663555"/>
          </a:xfrm>
        </p:spPr>
        <p:txBody>
          <a:bodyPr/>
          <a:lstStyle>
            <a:lvl1pPr marL="0" indent="0">
              <a:buNone/>
              <a:defRPr sz="4170"/>
            </a:lvl1pPr>
            <a:lvl2pPr marL="594360" indent="0">
              <a:buNone/>
              <a:defRPr sz="3675"/>
            </a:lvl2pPr>
            <a:lvl3pPr marL="1188720" indent="0">
              <a:buNone/>
              <a:defRPr sz="3135"/>
            </a:lvl3pPr>
            <a:lvl4pPr marL="1783715" indent="0">
              <a:buNone/>
              <a:defRPr sz="2620"/>
            </a:lvl4pPr>
            <a:lvl5pPr marL="2378710" indent="0">
              <a:buNone/>
              <a:defRPr sz="2620"/>
            </a:lvl5pPr>
            <a:lvl6pPr marL="2976245" indent="0">
              <a:buNone/>
              <a:defRPr sz="2620"/>
            </a:lvl6pPr>
            <a:lvl7pPr marL="3566160" indent="0">
              <a:buNone/>
              <a:defRPr sz="2620"/>
            </a:lvl7pPr>
            <a:lvl8pPr marL="4163060" indent="0">
              <a:buNone/>
              <a:defRPr sz="2620"/>
            </a:lvl8pPr>
            <a:lvl9pPr marL="4755515" indent="0">
              <a:buNone/>
              <a:defRPr sz="262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9838" y="2813020"/>
            <a:ext cx="3838828" cy="5211468"/>
          </a:xfrm>
        </p:spPr>
        <p:txBody>
          <a:bodyPr/>
          <a:lstStyle>
            <a:lvl1pPr marL="0" indent="0">
              <a:buNone/>
              <a:defRPr sz="2085"/>
            </a:lvl1pPr>
            <a:lvl2pPr marL="594360" indent="0">
              <a:buNone/>
              <a:defRPr sz="1835"/>
            </a:lvl2pPr>
            <a:lvl3pPr marL="1188720" indent="0">
              <a:buNone/>
              <a:defRPr sz="1570"/>
            </a:lvl3pPr>
            <a:lvl4pPr marL="1783715" indent="0">
              <a:buNone/>
              <a:defRPr sz="1320"/>
            </a:lvl4pPr>
            <a:lvl5pPr marL="2378710" indent="0">
              <a:buNone/>
              <a:defRPr sz="1320"/>
            </a:lvl5pPr>
            <a:lvl6pPr marL="2976245" indent="0">
              <a:buNone/>
              <a:defRPr sz="1320"/>
            </a:lvl6pPr>
            <a:lvl7pPr marL="3566160" indent="0">
              <a:buNone/>
              <a:defRPr sz="1320"/>
            </a:lvl7pPr>
            <a:lvl8pPr marL="4163060" indent="0">
              <a:buNone/>
              <a:defRPr sz="1320"/>
            </a:lvl8pPr>
            <a:lvl9pPr marL="4755515" indent="0">
              <a:buNone/>
              <a:defRPr sz="13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17649" y="499221"/>
            <a:ext cx="2566453" cy="79463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8289" y="499221"/>
            <a:ext cx="7550580" cy="7946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8289" y="499221"/>
            <a:ext cx="10265813" cy="1812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289" y="2496120"/>
            <a:ext cx="10265813" cy="594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8289" y="8690837"/>
            <a:ext cx="2678034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42665" y="8690837"/>
            <a:ext cx="4017057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406068" y="8690837"/>
            <a:ext cx="2678034" cy="499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085" indent="-299085" algn="l" defTabSz="1188720" rtl="0" eaLnBrk="1" latinLnBrk="0" hangingPunct="1">
        <a:lnSpc>
          <a:spcPct val="90000"/>
        </a:lnSpc>
        <a:spcBef>
          <a:spcPct val="258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344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3135" kern="1200">
          <a:solidFill>
            <a:schemeClr val="tx1"/>
          </a:solidFill>
          <a:latin typeface="+mn-lt"/>
          <a:ea typeface="+mn-ea"/>
          <a:cs typeface="+mn-cs"/>
        </a:defRPr>
      </a:lvl2pPr>
      <a:lvl3pPr marL="148780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3pPr>
      <a:lvl4pPr marL="208216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4pPr>
      <a:lvl5pPr marL="267779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5pPr>
      <a:lvl6pPr marL="3267710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6pPr>
      <a:lvl7pPr marL="386397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7pPr>
      <a:lvl8pPr marL="4462145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8pPr>
      <a:lvl9pPr marL="5058410" indent="-299085" algn="l" defTabSz="1188720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3pPr>
      <a:lvl4pPr marL="178371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4pPr>
      <a:lvl5pPr marL="237871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5pPr>
      <a:lvl6pPr marL="297624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7pPr>
      <a:lvl8pPr marL="4163060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8pPr>
      <a:lvl9pPr marL="4755515" algn="l" defTabSz="1188720" rtl="0" eaLnBrk="1" latinLnBrk="0" hangingPunct="1">
        <a:defRPr sz="2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tags" Target="../tags/tag2.xml"/><Relationship Id="rId7" Type="http://schemas.openxmlformats.org/officeDocument/2006/relationships/tags" Target="../tags/tag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.xml"/><Relationship Id="rId11" Type="http://schemas.openxmlformats.org/officeDocument/2006/relationships/tags" Target="../tags/tag5.xml"/><Relationship Id="rId10" Type="http://schemas.openxmlformats.org/officeDocument/2006/relationships/tags" Target="../tags/tag4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Appendix 7(F)"/>
          <p:cNvPicPr>
            <a:picLocks noChangeAspect="1"/>
          </p:cNvPicPr>
          <p:nvPr/>
        </p:nvPicPr>
        <p:blipFill>
          <a:blip r:embed="rId1"/>
          <a:srcRect l="9515" t="2274" r="33365" b="1540"/>
          <a:stretch>
            <a:fillRect/>
          </a:stretch>
        </p:blipFill>
        <p:spPr>
          <a:xfrm>
            <a:off x="6032078" y="6498379"/>
            <a:ext cx="5573376" cy="2736097"/>
          </a:xfrm>
          <a:prstGeom prst="rect">
            <a:avLst/>
          </a:prstGeom>
        </p:spPr>
      </p:pic>
      <p:pic>
        <p:nvPicPr>
          <p:cNvPr id="14" name="图片 13" descr="Appendix 7(E)"/>
          <p:cNvPicPr>
            <a:picLocks noChangeAspect="1"/>
          </p:cNvPicPr>
          <p:nvPr/>
        </p:nvPicPr>
        <p:blipFill>
          <a:blip r:embed="rId2"/>
          <a:srcRect l="9472" t="2150" r="33189" b="1434"/>
          <a:stretch>
            <a:fillRect/>
          </a:stretch>
        </p:blipFill>
        <p:spPr>
          <a:xfrm>
            <a:off x="152405" y="6502190"/>
            <a:ext cx="5594759" cy="2736097"/>
          </a:xfrm>
          <a:prstGeom prst="rect">
            <a:avLst/>
          </a:prstGeom>
        </p:spPr>
      </p:pic>
      <p:pic>
        <p:nvPicPr>
          <p:cNvPr id="11" name="图片 10" descr="Appendix 7(D)"/>
          <p:cNvPicPr>
            <a:picLocks noChangeAspect="1"/>
          </p:cNvPicPr>
          <p:nvPr/>
        </p:nvPicPr>
        <p:blipFill>
          <a:blip r:embed="rId3"/>
          <a:srcRect l="9472" t="2157" r="33232" b="1604"/>
          <a:stretch>
            <a:fillRect/>
          </a:stretch>
        </p:blipFill>
        <p:spPr>
          <a:xfrm>
            <a:off x="6026363" y="3684595"/>
            <a:ext cx="5617357" cy="2736097"/>
          </a:xfrm>
          <a:prstGeom prst="rect">
            <a:avLst/>
          </a:prstGeom>
        </p:spPr>
      </p:pic>
      <p:pic>
        <p:nvPicPr>
          <p:cNvPr id="10" name="图片 9" descr="Appendix 7(C)"/>
          <p:cNvPicPr>
            <a:picLocks noChangeAspect="1"/>
          </p:cNvPicPr>
          <p:nvPr/>
        </p:nvPicPr>
        <p:blipFill>
          <a:blip r:embed="rId4"/>
          <a:srcRect l="9477" t="2688" r="32654" b="1951"/>
          <a:stretch>
            <a:fillRect/>
          </a:stretch>
        </p:blipFill>
        <p:spPr>
          <a:xfrm>
            <a:off x="147960" y="3683325"/>
            <a:ext cx="5718336" cy="2736097"/>
          </a:xfrm>
          <a:prstGeom prst="rect">
            <a:avLst/>
          </a:prstGeom>
        </p:spPr>
      </p:pic>
      <p:pic>
        <p:nvPicPr>
          <p:cNvPr id="4" name="图片 3" descr="Appendix 7(B)"/>
          <p:cNvPicPr>
            <a:picLocks noChangeAspect="1"/>
          </p:cNvPicPr>
          <p:nvPr/>
        </p:nvPicPr>
        <p:blipFill>
          <a:blip r:embed="rId5"/>
          <a:srcRect l="9402" t="1638" r="32403" b="1510"/>
          <a:stretch>
            <a:fillRect/>
          </a:stretch>
        </p:blipFill>
        <p:spPr>
          <a:xfrm>
            <a:off x="6020647" y="821279"/>
            <a:ext cx="5662020" cy="2736097"/>
          </a:xfrm>
          <a:prstGeom prst="rect">
            <a:avLst/>
          </a:prstGeom>
        </p:spPr>
      </p:pic>
      <p:pic>
        <p:nvPicPr>
          <p:cNvPr id="2" name="图片 1" descr="Appendix 7(A)"/>
          <p:cNvPicPr>
            <a:picLocks noChangeAspect="1"/>
          </p:cNvPicPr>
          <p:nvPr/>
        </p:nvPicPr>
        <p:blipFill>
          <a:blip r:embed="rId6"/>
          <a:srcRect l="9519" t="2353" r="31871" b="1391"/>
          <a:stretch>
            <a:fillRect/>
          </a:stretch>
        </p:blipFill>
        <p:spPr>
          <a:xfrm>
            <a:off x="154405" y="811135"/>
            <a:ext cx="5733938" cy="273609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4135" y="188595"/>
            <a:ext cx="1121981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Extended Data Fig. 2 Raw data of linear correlation coefficient between weight and weight</a:t>
            </a:r>
            <a:r>
              <a:rPr lang="en-US" altLang="en-US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European (</a:t>
            </a:r>
            <a:r>
              <a:rPr lang="en-US" altLang="zh-CN" sz="11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a), Western European (b), Central European (c), Eastern European (d), Southern European (e), and Northern European (f) countries.. </a:t>
            </a:r>
            <a:endParaRPr lang="en-US" altLang="zh-CN" sz="11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87849" y="767829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014751" y="767829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87849" y="3652101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6014751" y="3652101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34840" y="6385872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061743" y="6385872"/>
            <a:ext cx="92442" cy="24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f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2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3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4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5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6.xml><?xml version="1.0" encoding="utf-8"?>
<p:tagLst xmlns:p="http://schemas.openxmlformats.org/presentationml/2006/main">
  <p:tag name="KSO_WM_DIAGRAM_VIRTUALLY_FRAME" val="{&quot;height&quot;:154.48827483608133,&quot;left&quot;:11.333388903839998,&quot;top&quot;:28.790578780519137,&quot;width&quot;:660.4644266994738}"/>
</p:tagLst>
</file>

<file path=ppt/tags/tag7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WPS 演示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106</cp:revision>
  <dcterms:created xsi:type="dcterms:W3CDTF">2023-08-09T12:44:00Z</dcterms:created>
  <dcterms:modified xsi:type="dcterms:W3CDTF">2025-12-26T13:40:19Z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